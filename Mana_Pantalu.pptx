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66" r:id="rId27"/>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99" cy="6858000"/>
  <p:notesSz cx="6858000" cy="12191695"/>
  <p:embeddedFontLst>
    <p:embeddedFont>
      <p:font typeface="Noto Sans Telugu"/>
      <p:regular r:id="rId201314"/>
    </p:embeddedFont>
    <p:embeddedFont>
      <p:font typeface="Noto Sans Telugu SemiBold"/>
      <p:regular r:id="rId201315"/>
    </p:embeddedFont>
    <p:embeddedFont>
      <p:font typeface="Noto Sans Telugu Bold"/>
      <p:regular r:id="rId201316"/>
    </p:embeddedFont>
    <p:embeddedFont>
      <p:font typeface="Noto Sans Telugu ExtraBold"/>
      <p:regular r:id="rId201317"/>
    </p:embeddedFont>
    <p:embeddedFont>
      <p:font typeface="Noto Sans Telugu Black"/>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7" Type="http://schemas.openxmlformats.org/officeDocument/2006/relationships/slide" Target="slides/slide1.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 Id="rId201318" Type="http://schemas.openxmlformats.org/officeDocument/2006/relationships/font" Target="fonts/201318.fntdata"/><Relationship Id="rId201319" Type="http://schemas.openxmlformats.org/officeDocument/2006/relationships/font" Target="fonts/201319.fntdata"/><Relationship Id="rId201320" Type="http://schemas.openxmlformats.org/officeDocument/2006/relationships/font" Target="fonts/201320.fntdata"/><Relationship Id="rId201321" Type="http://schemas.openxmlformats.org/officeDocument/2006/relationships/font" Target="fonts/201321.fntdata"/><Relationship Id="rId201322" Type="http://schemas.openxmlformats.org/officeDocument/2006/relationships/font" Target="fonts/201322.fntdata"/><Relationship Id="rId201323" Type="http://schemas.openxmlformats.org/officeDocument/2006/relationships/font" Target="fonts/2013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E1"/>
          </a:solidFill>
          <a:ln/>
        </p:spPr>
      </p:sp>
      <p:sp>
        <p:nvSpPr>
          <p:cNvPr id="3" name="Shape 1"/>
          <p:cNvSpPr/>
          <p:nvPr/>
        </p:nvSpPr>
        <p:spPr>
          <a:xfrm>
            <a:off x="0" y="0"/>
            <a:ext cx="12191695" cy="6858000"/>
          </a:xfrm>
          <a:prstGeom prst="rect">
            <a:avLst/>
          </a:prstGeom>
          <a:solidFill>
            <a:srgbClr val="DEEEE1"/>
          </a:solidFill>
          <a:ln/>
        </p:spPr>
      </p:sp>
      <p:sp>
        <p:nvSpPr>
          <p:cNvPr id="4" name="Shape 2"/>
          <p:cNvSpPr/>
          <p:nvPr/>
        </p:nvSpPr>
        <p:spPr>
          <a:xfrm>
            <a:off x="228594" y="228600"/>
            <a:ext cx="11734506" cy="6400800"/>
          </a:xfrm>
          <a:prstGeom prst="rect">
            <a:avLst>
              <a:gd name="adj" fmla="val 2857"/>
            </a:avLst>
          </a:prstGeom>
          <a:solidFill>
            <a:srgbClr val="FAFFFA"/>
          </a:solidFill>
          <a:ln/>
        </p:spPr>
      </p:sp>
      <p:pic>
        <p:nvPicPr>
          <p:cNvPr id="5"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EEEE1"/>
          </a:solidFill>
          <a:ln/>
        </p:spPr>
      </p:sp>
      <p:sp>
        <p:nvSpPr>
          <p:cNvPr id="3" name="Shape 1"/>
          <p:cNvSpPr/>
          <p:nvPr/>
        </p:nvSpPr>
        <p:spPr>
          <a:xfrm>
            <a:off x="0" y="0"/>
            <a:ext cx="12191695" cy="6858000"/>
          </a:xfrm>
          <a:prstGeom prst="rect">
            <a:avLst/>
          </a:prstGeom>
          <a:solidFill>
            <a:srgbClr val="DEEEE1"/>
          </a:solidFill>
          <a:ln/>
        </p:spPr>
      </p:sp>
      <p:sp>
        <p:nvSpPr>
          <p:cNvPr id="4" name="Shape 2"/>
          <p:cNvSpPr/>
          <p:nvPr/>
        </p:nvSpPr>
        <p:spPr>
          <a:xfrm>
            <a:off x="228594" y="228600"/>
            <a:ext cx="11734506" cy="6400800"/>
          </a:xfrm>
          <a:prstGeom prst="rect">
            <a:avLst>
              <a:gd name="adj" fmla="val 2857"/>
            </a:avLst>
          </a:prstGeom>
          <a:solidFill>
            <a:srgbClr val="FAFFFA"/>
          </a:solidFill>
          <a:ln/>
        </p:spPr>
      </p:sp>
      <p:sp>
        <p:nvSpPr>
          <p:cNvPr id="5" name="Shape 3"/>
          <p:cNvSpPr/>
          <p:nvPr/>
        </p:nvSpPr>
        <p:spPr>
          <a:xfrm>
            <a:off x="0" y="0"/>
            <a:ext cx="12191695" cy="6858000"/>
          </a:xfrm>
          <a:prstGeom prst="rect">
            <a:avLst>
              <a:gd name="adj" fmla="val 4266"/>
            </a:avLst>
          </a:prstGeom>
          <a:solidFill>
            <a:srgbClr val="FAFFFA"/>
          </a:solidFill>
          <a:ln/>
        </p:spPr>
      </p:sp>
      <p:pic>
        <p:nvPicPr>
          <p:cNvPr id="6"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Rectangle 13"/>
          <p:cNvSpPr/>
          <p:nvPr/>
        </p:nvSpPr>
        <p:spPr>
          <a:xfrm>
            <a:off x="0" y="0"/>
            <a:ext cx="12191695" cy="6858000"/>
          </a:xfrm>
          <a:prstGeom prst="rect">
            <a:avLst/>
          </a:prstGeom>
          <a:solidFill>
            <a:srgbClr val="F5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0" y="0"/>
            <a:ext cx="5867253" cy="6858000"/>
          </a:xfrm>
          <a:custGeom>
            <a:avLst/>
            <a:gdLst/>
            <a:ahLst/>
            <a:cxnLst/>
            <a:rect l="l" t="t" r="r" b="b"/>
            <a:pathLst>
              <a:path w="5867253" h="6858000">
                <a:moveTo>
                  <a:pt x="243796" y="0"/>
                </a:moveTo>
                <a:lnTo>
                  <a:pt x="5867253" y="0"/>
                </a:lnTo>
                <a:lnTo>
                  <a:pt x="5867253" y="6858000"/>
                </a:lnTo>
                <a:lnTo>
                  <a:pt x="243796" y="6858000"/>
                </a:lnTo>
                <a:arcTo hR="243802" wR="243796" stAng="5400000" swAng="5400000"/>
                <a:lnTo>
                  <a:pt x="0" y="243802"/>
                </a:lnTo>
                <a:arcTo hR="243802" wR="243796" stAng="10800000" swAng="5400000"/>
                <a:close/>
              </a:path>
            </a:pathLst>
          </a:custGeom>
          <a:solidFill>
            <a:srgbClr val="FAFFFA"/>
          </a:solidFill>
          <a:ln/>
        </p:spPr>
        <p:txBody>
          <a:bodyPr/>
          <a:p/>
        </p:txBody>
      </p:sp>
      <p:sp>
        <p:nvSpPr>
          <p:cNvPr id="7" name="Shape 5"/>
          <p:cNvSpPr/>
          <p:nvPr/>
        </p:nvSpPr>
        <p:spPr>
          <a:xfrm>
            <a:off x="6324442" y="0"/>
            <a:ext cx="5867253" cy="6858000"/>
          </a:xfrm>
          <a:prstGeom prst="roundRect">
            <a:avLst>
              <a:gd name="adj" fmla="val 3117"/>
            </a:avLst>
          </a:prstGeom>
          <a:solidFill>
            <a:srgbClr val="F5F8F2"/>
          </a:solidFill>
          <a:ln/>
        </p:spPr>
        <p:txBody>
          <a:bodyPr/>
          <a:p/>
        </p:txBody>
      </p:sp>
      <p:pic>
        <p:nvPicPr>
          <p:cNvPr id="8" name="Image 0" descr="preencoded.png">    </p:cNvPr>
          <p:cNvPicPr>
            <a:picLocks noChangeAspect="1"/>
          </p:cNvPicPr>
          <p:nvPr/>
        </p:nvPicPr>
        <p:blipFill>
          <a:blip r:embed="rId1"/>
          <a:stretch>
            <a:fillRect/>
          </a:stretch>
        </p:blipFill>
        <p:spPr>
          <a:xfrm>
            <a:off x="6324442" y="0"/>
            <a:ext cx="5867253" cy="6858000"/>
          </a:xfrm>
          <a:prstGeom prst="rect">
            <a:avLst/>
          </a:prstGeom>
        </p:spPr>
      </p:pic>
      <p:sp>
        <p:nvSpPr>
          <p:cNvPr id="9" name="TextBox 8"/>
          <p:cNvSpPr txBox="1"/>
          <p:nvPr/>
        </p:nvSpPr>
        <p:spPr>
          <a:xfrm>
            <a:off x="777240" y="502920"/>
            <a:ext cx="10607040" cy="502920"/>
          </a:xfrm>
          <a:prstGeom prst="rect">
            <a:avLst/>
          </a:prstGeom>
          <a:noFill/>
        </p:spPr>
        <p:txBody>
          <a:bodyPr wrap="square">
            <a:spAutoFit/>
          </a:bodyPr>
          <a:lstStyle/>
          <a:p>
            <a:pPr>
              <a:defRPr sz="1200" b="1">
                <a:solidFill>
                  <a:srgbClr val="B4DCC8"/>
                </a:solidFill>
                <a:latin typeface="Aptos"/>
              </a:defRPr>
            </a:pPr>
            <a:r>
              <a:rPr sz="2800"/>
              <a:t>PROBLEM STATEMENT</a:t>
            </a:r>
          </a:p>
        </p:txBody>
      </p:sp>
      <p:sp>
        <p:nvSpPr>
          <p:cNvPr id="11" name="TextBox 10"/>
          <p:cNvSpPr txBox="1"/>
          <p:nvPr/>
        </p:nvSpPr>
        <p:spPr>
          <a:xfrm>
            <a:off x="777240" y="1234440"/>
            <a:ext cx="10607040" cy="1828800"/>
          </a:xfrm>
          <a:prstGeom prst="rect">
            <a:avLst/>
          </a:prstGeom>
          <a:noFill/>
        </p:spPr>
        <p:txBody>
          <a:bodyPr wrap="square">
            <a:spAutoFit/>
          </a:bodyPr>
          <a:lstStyle/>
          <a:p>
            <a:pPr>
              <a:spcAft>
                <a:spcPts val="400"/>
              </a:spcAft>
              <a:defRPr sz="1500" b="0">
                <a:solidFill>
                  <a:srgbClr val="E6F0EB"/>
                </a:solidFill>
                <a:latin typeface="Aptos"/>
              </a:defRPr>
            </a:pPr>
            <a:r>
              <a:rPr sz="1900">
                <a:solidFill>
                  <a:srgbClr val="232323"/>
                </a:solidFill>
              </a:rPr>
              <a:t>Farmers can suffer crop losses when diseases and health problems are not identified at an early stage. Without quick and easy guidance, it can be difficult to understand what is affecting a crop and what action should be taken.</a:t>
            </a:r>
          </a:p>
        </p:txBody>
      </p:sp>
      <p:sp>
        <p:nvSpPr>
          <p:cNvPr id="12" name="TextBox 11"/>
          <p:cNvSpPr txBox="1"/>
          <p:nvPr/>
        </p:nvSpPr>
        <p:spPr>
          <a:xfrm>
            <a:off x="777240" y="3520440"/>
            <a:ext cx="10607040" cy="502920"/>
          </a:xfrm>
          <a:prstGeom prst="rect">
            <a:avLst/>
          </a:prstGeom>
          <a:noFill/>
        </p:spPr>
        <p:txBody>
          <a:bodyPr wrap="square">
            <a:spAutoFit/>
          </a:bodyPr>
          <a:lstStyle/>
          <a:p>
            <a:pPr>
              <a:defRPr sz="1200" b="1">
                <a:solidFill>
                  <a:srgbClr val="B4DCC8"/>
                </a:solidFill>
                <a:latin typeface="Aptos"/>
              </a:defRPr>
            </a:pPr>
            <a:r>
              <a:rPr sz="2400"/>
              <a:t>PROPOSED SOLUTION</a:t>
            </a:r>
          </a:p>
        </p:txBody>
      </p:sp>
      <p:sp>
        <p:nvSpPr>
          <p:cNvPr id="13" name="TextBox 12"/>
          <p:cNvSpPr txBox="1"/>
          <p:nvPr/>
        </p:nvSpPr>
        <p:spPr>
          <a:xfrm>
            <a:off x="777240" y="4251960"/>
            <a:ext cx="10607040" cy="1600200"/>
          </a:xfrm>
          <a:prstGeom prst="rect">
            <a:avLst/>
          </a:prstGeom>
          <a:noFill/>
        </p:spPr>
        <p:txBody>
          <a:bodyPr wrap="square">
            <a:spAutoFit/>
          </a:bodyPr>
          <a:lstStyle/>
          <a:p>
            <a:pPr>
              <a:spcAft>
                <a:spcPts val="400"/>
              </a:spcAft>
              <a:defRPr sz="1500" b="0">
                <a:solidFill>
                  <a:srgbClr val="E6F0EB"/>
                </a:solidFill>
                <a:latin typeface="Aptos"/>
              </a:defRPr>
            </a:pPr>
            <a:r>
              <a:rPr sz="1900">
                <a:solidFill>
                  <a:srgbClr val="232323"/>
                </a:solidFill>
              </a:rPr>
              <a:t>Mana Pantalu is an AI farming support app that helps farmers identify possible crop diseases using a photo, understand the issue, and receive practical suggestions for crop care, prevention, and suitable treatment options. With Telugu-first and voice-friendly guidance, the app makes early action easier.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867253" cy="6858000"/>
          </a:xfrm>
          <a:custGeom>
            <a:avLst/>
            <a:gdLst/>
            <a:ahLst/>
            <a:cxnLst/>
            <a:rect l="l" t="t" r="r" b="b"/>
            <a:pathLst>
              <a:path w="5867253" h="6858000">
                <a:moveTo>
                  <a:pt x="243796" y="0"/>
                </a:moveTo>
                <a:lnTo>
                  <a:pt x="5867253" y="0"/>
                </a:lnTo>
                <a:lnTo>
                  <a:pt x="5867253" y="6858000"/>
                </a:lnTo>
                <a:lnTo>
                  <a:pt x="243796" y="6858000"/>
                </a:lnTo>
                <a:arcTo hR="243802" wR="243796" stAng="5400000" swAng="5400000"/>
                <a:lnTo>
                  <a:pt x="0" y="243802"/>
                </a:lnTo>
                <a:arcTo hR="243802" wR="243796" stAng="10800000" swAng="5400000"/>
                <a:close/>
              </a:path>
            </a:pathLst>
          </a:custGeom>
          <a:solidFill>
            <a:srgbClr val="FAFFFA"/>
          </a:solidFill>
          <a:ln/>
        </p:spPr>
        <p:txBody>
          <a:bodyPr/>
          <a:p/>
        </p:txBody>
      </p:sp>
      <p:sp>
        <p:nvSpPr>
          <p:cNvPr id="3" name="Text 1"/>
          <p:cNvSpPr/>
          <p:nvPr/>
        </p:nvSpPr>
        <p:spPr>
          <a:xfrm>
            <a:off x="660383" y="660400"/>
            <a:ext cx="3809905" cy="153293"/>
          </a:xfrm>
          <a:prstGeom prst="rect">
            <a:avLst/>
          </a:prstGeom>
          <a:noFill/>
          <a:ln/>
        </p:spPr>
        <p:txBody>
          <a:bodyPr wrap="none" lIns="0" tIns="0" rIns="0" bIns="0" rtlCol="0" anchor="t"/>
          <a:lstStyle/>
          <a:p>
            <a:pPr algn="l" indent="0" marL="0">
              <a:lnSpc>
                <a:spcPct val="96000"/>
              </a:lnSpc>
              <a:buNone/>
            </a:pPr>
            <a:r>
              <a:rPr lang="en-US" sz="1050" spc="47" kern="0" dirty="0">
                <a:solidFill>
                  <a:srgbClr val="000000"/>
                </a:solidFill>
                <a:latin typeface="Noto Sans Telugu SemiBold" pitchFamily="34" charset="0"/>
                <a:ea typeface="Noto Sans Telugu SemiBold" pitchFamily="34" charset="-122"/>
                <a:cs typeface="Noto Sans Telugu SemiBold" pitchFamily="34" charset="-120"/>
              </a:rPr>
              <a:t>AI FARMING SUPPORT · INDIA</a:t>
            </a:r>
            <a:endParaRPr lang="en-US" sz="1050" dirty="0"/>
          </a:p>
        </p:txBody>
      </p:sp>
      <p:sp>
        <p:nvSpPr>
          <p:cNvPr id="4" name="Text 2"/>
          <p:cNvSpPr/>
          <p:nvPr/>
        </p:nvSpPr>
        <p:spPr>
          <a:xfrm>
            <a:off x="660383" y="899418"/>
            <a:ext cx="5003675" cy="1531938"/>
          </a:xfrm>
          <a:prstGeom prst="rect">
            <a:avLst/>
          </a:prstGeom>
          <a:noFill/>
          <a:ln/>
        </p:spPr>
        <p:txBody>
          <a:bodyPr wrap="square" lIns="0" tIns="0" rIns="0" bIns="0" rtlCol="0" anchor="t">
            <a:normAutofit/>
          </a:bodyPr>
          <a:lstStyle/>
          <a:p>
            <a:pPr algn="l" indent="0" marL="0">
              <a:lnSpc>
                <a:spcPct val="87000"/>
              </a:lnSpc>
              <a:buNone/>
            </a:pPr>
            <a:r>
              <a:rPr lang="en-US" sz="5800" spc="-70" kern="0" dirty="0">
                <a:solidFill>
                  <a:srgbClr val="000000"/>
                </a:solidFill>
                <a:latin typeface="Noto Sans Telugu ExtraBold" pitchFamily="34" charset="0"/>
                <a:ea typeface="Noto Sans Telugu ExtraBold" pitchFamily="34" charset="-122"/>
                <a:cs typeface="Noto Sans Telugu ExtraBold" pitchFamily="34" charset="-120"/>
              </a:rPr>
              <a:t>Mana Pantalu</a:t>
            </a:r>
            <a:endParaRPr lang="en-US" sz="5800" dirty="0"/>
          </a:p>
        </p:txBody>
      </p:sp>
      <p:sp>
        <p:nvSpPr>
          <p:cNvPr id="5" name="Text 3"/>
          <p:cNvSpPr/>
          <p:nvPr/>
        </p:nvSpPr>
        <p:spPr>
          <a:xfrm>
            <a:off x="660383" y="5617766"/>
            <a:ext cx="5613260"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AI farming support made simple for Indian farmers.</a:t>
            </a:r>
            <a:endParaRPr lang="en-US" sz="1600" dirty="0"/>
          </a:p>
        </p:txBody>
      </p:sp>
      <p:sp>
        <p:nvSpPr>
          <p:cNvPr id="6" name="Text 4"/>
          <p:cNvSpPr/>
          <p:nvPr/>
        </p:nvSpPr>
        <p:spPr>
          <a:xfrm>
            <a:off x="660383" y="6080522"/>
            <a:ext cx="5613260" cy="167878"/>
          </a:xfrm>
          <a:prstGeom prst="rect">
            <a:avLst/>
          </a:prstGeom>
          <a:noFill/>
          <a:ln/>
        </p:spPr>
        <p:txBody>
          <a:bodyPr wrap="none" lIns="0" tIns="0" rIns="0" bIns="0" rtlCol="0" anchor="t"/>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Telugu-first · Voice-friendly · Action-oriented</a:t>
            </a:r>
            <a:endParaRPr lang="en-US" sz="1150" dirty="0"/>
          </a:p>
        </p:txBody>
      </p:sp>
      <p:sp>
        <p:nvSpPr>
          <p:cNvPr id="7" name="Shape 5"/>
          <p:cNvSpPr/>
          <p:nvPr/>
        </p:nvSpPr>
        <p:spPr>
          <a:xfrm>
            <a:off x="6324442" y="0"/>
            <a:ext cx="5867253" cy="6858000"/>
          </a:xfrm>
          <a:prstGeom prst="roundRect">
            <a:avLst>
              <a:gd name="adj" fmla="val 3117"/>
            </a:avLst>
          </a:prstGeom>
          <a:solidFill>
            <a:srgbClr val="FAFFFA"/>
          </a:solidFill>
          <a:ln/>
        </p:spPr>
        <p:txBody>
          <a:bodyPr/>
          <a:p/>
        </p:txBody>
      </p:sp>
      <p:pic>
        <p:nvPicPr>
          <p:cNvPr id="8" name="Image 0" descr="preencoded.png">    </p:cNvPr>
          <p:cNvPicPr>
            <a:picLocks noChangeAspect="1"/>
          </p:cNvPicPr>
          <p:nvPr/>
        </p:nvPicPr>
        <p:blipFill>
          <a:blip r:embed="rId1"/>
          <a:stretch>
            <a:fillRect/>
          </a:stretch>
        </p:blipFill>
        <p:spPr>
          <a:xfrm>
            <a:off x="6324442" y="0"/>
            <a:ext cx="5867253"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09585" y="727770"/>
            <a:ext cx="1785694" cy="308670"/>
          </a:xfrm>
          <a:prstGeom prst="roundRect">
            <a:avLst>
              <a:gd name="adj" fmla="val 47397"/>
            </a:avLst>
          </a:prstGeom>
          <a:noFill/>
          <a:ln w="6350">
            <a:solidFill>
              <a:srgbClr val="000000"/>
            </a:solidFill>
            <a:prstDash val="solid"/>
          </a:ln>
        </p:spPr>
      </p:sp>
      <p:sp>
        <p:nvSpPr>
          <p:cNvPr id="3" name="Text 1"/>
          <p:cNvSpPr/>
          <p:nvPr/>
        </p:nvSpPr>
        <p:spPr>
          <a:xfrm>
            <a:off x="731422" y="788690"/>
            <a:ext cx="2151604" cy="186829"/>
          </a:xfrm>
          <a:prstGeom prst="rect">
            <a:avLst/>
          </a:prstGeom>
          <a:noFill/>
          <a:ln/>
        </p:spPr>
        <p:txBody>
          <a:bodyPr wrap="none" lIns="0" tIns="0" rIns="0" bIns="0" rtlCol="0" anchor="t"/>
          <a:lstStyle/>
          <a:p>
            <a:pPr algn="l" indent="0" marL="0">
              <a:lnSpc>
                <a:spcPct val="96000"/>
              </a:lnSpc>
              <a:buNone/>
            </a:pPr>
            <a:r>
              <a:rPr lang="en-US" sz="1300" dirty="0">
                <a:solidFill>
                  <a:srgbClr val="000000"/>
                </a:solidFill>
                <a:latin typeface="Noto Sans Telugu SemiBold" pitchFamily="34" charset="0"/>
                <a:ea typeface="Noto Sans Telugu SemiBold" pitchFamily="34" charset="-122"/>
                <a:cs typeface="Noto Sans Telugu SemiBold" pitchFamily="34" charset="-120"/>
              </a:rPr>
              <a:t>PRODUCT PROMISE</a:t>
            </a:r>
            <a:endParaRPr lang="en-US" sz="1300" dirty="0"/>
          </a:p>
        </p:txBody>
      </p:sp>
      <p:sp>
        <p:nvSpPr>
          <p:cNvPr id="4" name="Text 2"/>
          <p:cNvSpPr/>
          <p:nvPr/>
        </p:nvSpPr>
        <p:spPr>
          <a:xfrm>
            <a:off x="609585" y="1122164"/>
            <a:ext cx="8127797" cy="1593056"/>
          </a:xfrm>
          <a:prstGeom prst="rect">
            <a:avLst/>
          </a:prstGeom>
          <a:noFill/>
          <a:ln/>
        </p:spPr>
        <p:txBody>
          <a:bodyPr wrap="square" lIns="0" tIns="0" rIns="0" bIns="0" rtlCol="0" anchor="t">
            <a:normAutofit/>
          </a:bodyPr>
          <a:lstStyle/>
          <a:p>
            <a:pPr algn="l" indent="0" marL="0">
              <a:lnSpc>
                <a:spcPct val="82000"/>
              </a:lnSpc>
              <a:buNone/>
            </a:pPr>
            <a:r>
              <a:rPr lang="en-US" sz="6400" spc="-115" kern="0" dirty="0">
                <a:solidFill>
                  <a:srgbClr val="000000"/>
                </a:solidFill>
                <a:latin typeface="Noto Sans Telugu ExtraBold" pitchFamily="34" charset="0"/>
                <a:ea typeface="Noto Sans Telugu ExtraBold" pitchFamily="34" charset="-122"/>
                <a:cs typeface="Noto Sans Telugu ExtraBold" pitchFamily="34" charset="-120"/>
              </a:rPr>
              <a:t>Every crop decision should feel easier.</a:t>
            </a:r>
            <a:endParaRPr lang="en-US" sz="6400" dirty="0"/>
          </a:p>
        </p:txBody>
      </p:sp>
      <p:sp>
        <p:nvSpPr>
          <p:cNvPr id="5" name="Shape 3"/>
          <p:cNvSpPr/>
          <p:nvPr/>
        </p:nvSpPr>
        <p:spPr>
          <a:xfrm>
            <a:off x="609585" y="2927945"/>
            <a:ext cx="5333867" cy="1109266"/>
          </a:xfrm>
          <a:prstGeom prst="roundRect">
            <a:avLst>
              <a:gd name="adj" fmla="val 16486"/>
            </a:avLst>
          </a:prstGeom>
          <a:solidFill>
            <a:srgbClr val="DFEEE2"/>
          </a:solidFill>
          <a:ln/>
        </p:spPr>
      </p:sp>
      <p:sp>
        <p:nvSpPr>
          <p:cNvPr id="6" name="Text 4"/>
          <p:cNvSpPr/>
          <p:nvPr/>
        </p:nvSpPr>
        <p:spPr>
          <a:xfrm>
            <a:off x="772101" y="3090466"/>
            <a:ext cx="5008834"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See the problem</a:t>
            </a:r>
            <a:endParaRPr lang="en-US" sz="2400" dirty="0"/>
          </a:p>
        </p:txBody>
      </p:sp>
      <p:sp>
        <p:nvSpPr>
          <p:cNvPr id="7" name="Text 5"/>
          <p:cNvSpPr/>
          <p:nvPr/>
        </p:nvSpPr>
        <p:spPr>
          <a:xfrm>
            <a:off x="772101" y="3602434"/>
            <a:ext cx="5618419"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Understand a crop issue with a photo.</a:t>
            </a:r>
            <a:endParaRPr lang="en-US" sz="1600" dirty="0"/>
          </a:p>
        </p:txBody>
      </p:sp>
      <p:sp>
        <p:nvSpPr>
          <p:cNvPr id="8" name="Shape 6"/>
          <p:cNvSpPr/>
          <p:nvPr/>
        </p:nvSpPr>
        <p:spPr>
          <a:xfrm>
            <a:off x="6248244" y="2927945"/>
            <a:ext cx="5333867" cy="1109266"/>
          </a:xfrm>
          <a:prstGeom prst="roundRect">
            <a:avLst>
              <a:gd name="adj" fmla="val 16486"/>
            </a:avLst>
          </a:prstGeom>
          <a:solidFill>
            <a:srgbClr val="DFEEE2"/>
          </a:solidFill>
          <a:ln/>
        </p:spPr>
      </p:sp>
      <p:sp>
        <p:nvSpPr>
          <p:cNvPr id="9" name="Text 7"/>
          <p:cNvSpPr/>
          <p:nvPr/>
        </p:nvSpPr>
        <p:spPr>
          <a:xfrm>
            <a:off x="6410760" y="3090466"/>
            <a:ext cx="5008834"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Hear the guidance</a:t>
            </a:r>
            <a:endParaRPr lang="en-US" sz="2400" dirty="0"/>
          </a:p>
        </p:txBody>
      </p:sp>
      <p:sp>
        <p:nvSpPr>
          <p:cNvPr id="10" name="Text 8"/>
          <p:cNvSpPr/>
          <p:nvPr/>
        </p:nvSpPr>
        <p:spPr>
          <a:xfrm>
            <a:off x="6410760" y="3602434"/>
            <a:ext cx="5618419"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Get practical help in simple Telugu.</a:t>
            </a:r>
            <a:endParaRPr lang="en-US" sz="1600" dirty="0"/>
          </a:p>
        </p:txBody>
      </p:sp>
      <p:sp>
        <p:nvSpPr>
          <p:cNvPr id="11" name="Shape 9"/>
          <p:cNvSpPr/>
          <p:nvPr/>
        </p:nvSpPr>
        <p:spPr>
          <a:xfrm>
            <a:off x="609585" y="4342011"/>
            <a:ext cx="5333867" cy="1109266"/>
          </a:xfrm>
          <a:prstGeom prst="roundRect">
            <a:avLst>
              <a:gd name="adj" fmla="val 16486"/>
            </a:avLst>
          </a:prstGeom>
          <a:solidFill>
            <a:srgbClr val="DFEEE2"/>
          </a:solidFill>
          <a:ln/>
        </p:spPr>
      </p:sp>
      <p:sp>
        <p:nvSpPr>
          <p:cNvPr id="12" name="Text 10"/>
          <p:cNvSpPr/>
          <p:nvPr/>
        </p:nvSpPr>
        <p:spPr>
          <a:xfrm>
            <a:off x="772101" y="4504531"/>
            <a:ext cx="5008834"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Choose your language</a:t>
            </a:r>
            <a:endParaRPr lang="en-US" sz="2400" dirty="0"/>
          </a:p>
        </p:txBody>
      </p:sp>
      <p:sp>
        <p:nvSpPr>
          <p:cNvPr id="13" name="Text 11"/>
          <p:cNvSpPr/>
          <p:nvPr/>
        </p:nvSpPr>
        <p:spPr>
          <a:xfrm>
            <a:off x="772101" y="5016500"/>
            <a:ext cx="5618419"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Switch to English anytime.</a:t>
            </a:r>
            <a:endParaRPr lang="en-US" sz="1600" dirty="0"/>
          </a:p>
        </p:txBody>
      </p:sp>
      <p:sp>
        <p:nvSpPr>
          <p:cNvPr id="14" name="Shape 12"/>
          <p:cNvSpPr/>
          <p:nvPr/>
        </p:nvSpPr>
        <p:spPr>
          <a:xfrm>
            <a:off x="6248244" y="4342011"/>
            <a:ext cx="5333867" cy="1109266"/>
          </a:xfrm>
          <a:prstGeom prst="roundRect">
            <a:avLst>
              <a:gd name="adj" fmla="val 16486"/>
            </a:avLst>
          </a:prstGeom>
          <a:solidFill>
            <a:srgbClr val="DFEEE2"/>
          </a:solidFill>
          <a:ln/>
        </p:spPr>
      </p:sp>
      <p:sp>
        <p:nvSpPr>
          <p:cNvPr id="15" name="Text 13"/>
          <p:cNvSpPr/>
          <p:nvPr/>
        </p:nvSpPr>
        <p:spPr>
          <a:xfrm>
            <a:off x="6410760" y="4504531"/>
            <a:ext cx="5008834"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Use your voice</a:t>
            </a:r>
            <a:endParaRPr lang="en-US" sz="2400" dirty="0"/>
          </a:p>
        </p:txBody>
      </p:sp>
      <p:sp>
        <p:nvSpPr>
          <p:cNvPr id="16" name="Text 14"/>
          <p:cNvSpPr/>
          <p:nvPr/>
        </p:nvSpPr>
        <p:spPr>
          <a:xfrm>
            <a:off x="6410760" y="5016500"/>
            <a:ext cx="5618419"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Speak or read when reading is difficult.</a:t>
            </a:r>
            <a:endParaRPr lang="en-US" sz="1600" dirty="0"/>
          </a:p>
        </p:txBody>
      </p:sp>
      <p:sp>
        <p:nvSpPr>
          <p:cNvPr id="17" name="Shape 15"/>
          <p:cNvSpPr/>
          <p:nvPr/>
        </p:nvSpPr>
        <p:spPr>
          <a:xfrm>
            <a:off x="609585" y="5690989"/>
            <a:ext cx="2743131" cy="31651"/>
          </a:xfrm>
          <a:prstGeom prst="roundRect">
            <a:avLst>
              <a:gd name="adj" fmla="val 49998"/>
            </a:avLst>
          </a:prstGeom>
          <a:solidFill>
            <a:srgbClr val="4A644E"/>
          </a:solidFill>
          <a:ln/>
        </p:spPr>
      </p:sp>
      <p:sp>
        <p:nvSpPr>
          <p:cNvPr id="18" name="Text 16"/>
          <p:cNvSpPr/>
          <p:nvPr/>
        </p:nvSpPr>
        <p:spPr>
          <a:xfrm>
            <a:off x="609585" y="5962452"/>
            <a:ext cx="11582110" cy="167878"/>
          </a:xfrm>
          <a:prstGeom prst="rect">
            <a:avLst/>
          </a:prstGeom>
          <a:noFill/>
          <a:ln/>
        </p:spPr>
        <p:txBody>
          <a:bodyPr wrap="none" lIns="0" tIns="0" rIns="0" bIns="0" rtlCol="0" anchor="t"/>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Designed for limited smartphone experience: large targets, familiar icons, obvious next actions.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0972526" cy="396180"/>
          </a:xfrm>
          <a:prstGeom prst="rect">
            <a:avLst/>
          </a:prstGeom>
          <a:noFill/>
          <a:ln/>
        </p:spPr>
        <p:txBody>
          <a:bodyPr wrap="none" lIns="0" tIns="0" rIns="0" bIns="0" rtlCol="0" anchor="t"/>
          <a:lstStyle/>
          <a:p>
            <a:pPr algn="l" indent="0" marL="0">
              <a:lnSpc>
                <a:spcPct val="87000"/>
              </a:lnSpc>
              <a:buNone/>
            </a:pPr>
            <a:r>
              <a:rPr lang="en-US" sz="3000" spc="-36" kern="0" dirty="0">
                <a:solidFill>
                  <a:srgbClr val="000000"/>
                </a:solidFill>
                <a:latin typeface="Noto Sans Telugu ExtraBold" pitchFamily="34" charset="0"/>
                <a:ea typeface="Noto Sans Telugu ExtraBold" pitchFamily="34" charset="-122"/>
                <a:cs typeface="Noto Sans Telugu ExtraBold" pitchFamily="34" charset="-120"/>
              </a:rPr>
              <a:t>Welcome into a focused home</a:t>
            </a:r>
            <a:endParaRPr lang="en-US" sz="3000" dirty="0"/>
          </a:p>
        </p:txBody>
      </p:sp>
      <p:sp>
        <p:nvSpPr>
          <p:cNvPr id="3" name="Text 1"/>
          <p:cNvSpPr/>
          <p:nvPr/>
        </p:nvSpPr>
        <p:spPr>
          <a:xfrm>
            <a:off x="609585" y="1218505"/>
            <a:ext cx="11582110"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The first screen makes the next useful task obvious.</a:t>
            </a:r>
            <a:endParaRPr lang="en-US" sz="1600" dirty="0"/>
          </a:p>
        </p:txBody>
      </p:sp>
      <p:pic>
        <p:nvPicPr>
          <p:cNvPr id="4" name="Image 0" descr="preencoded.png">    </p:cNvPr>
          <p:cNvPicPr>
            <a:picLocks noChangeAspect="1"/>
          </p:cNvPicPr>
          <p:nvPr/>
        </p:nvPicPr>
        <p:blipFill>
          <a:blip r:embed="rId1"/>
          <a:stretch>
            <a:fillRect/>
          </a:stretch>
        </p:blipFill>
        <p:spPr>
          <a:xfrm>
            <a:off x="609585" y="1681262"/>
            <a:ext cx="3428914" cy="1928813"/>
          </a:xfrm>
          <a:prstGeom prst="rect">
            <a:avLst/>
          </a:prstGeom>
        </p:spPr>
      </p:pic>
      <p:sp>
        <p:nvSpPr>
          <p:cNvPr id="5" name="Text 2"/>
          <p:cNvSpPr/>
          <p:nvPr/>
        </p:nvSpPr>
        <p:spPr>
          <a:xfrm>
            <a:off x="609585" y="3800574"/>
            <a:ext cx="3428914" cy="284659"/>
          </a:xfrm>
          <a:prstGeom prst="rect">
            <a:avLst/>
          </a:prstGeom>
          <a:noFill/>
          <a:ln/>
        </p:spPr>
        <p:txBody>
          <a:bodyPr wrap="none" lIns="0" tIns="0" rIns="0" bIns="0" rtlCol="0" anchor="t"/>
          <a:lstStyle/>
          <a:p>
            <a:pPr algn="l" indent="0" marL="0">
              <a:lnSpc>
                <a:spcPct val="98000"/>
              </a:lnSpc>
              <a:buNone/>
            </a:pPr>
            <a:r>
              <a:rPr lang="en-US" sz="1900" dirty="0">
                <a:solidFill>
                  <a:srgbClr val="000000"/>
                </a:solidFill>
                <a:latin typeface="Noto Sans Telugu SemiBold" pitchFamily="34" charset="0"/>
                <a:ea typeface="Noto Sans Telugu SemiBold" pitchFamily="34" charset="-122"/>
                <a:cs typeface="Noto Sans Telugu SemiBold" pitchFamily="34" charset="-120"/>
              </a:rPr>
              <a:t>Welcome</a:t>
            </a:r>
            <a:endParaRPr lang="en-US" sz="1900" dirty="0"/>
          </a:p>
        </p:txBody>
      </p:sp>
      <p:sp>
        <p:nvSpPr>
          <p:cNvPr id="6" name="Text 3"/>
          <p:cNvSpPr/>
          <p:nvPr/>
        </p:nvSpPr>
        <p:spPr>
          <a:xfrm>
            <a:off x="609585" y="4237633"/>
            <a:ext cx="3428914" cy="335756"/>
          </a:xfrm>
          <a:prstGeom prst="rect">
            <a:avLst/>
          </a:prstGeom>
          <a:noFill/>
          <a:ln/>
        </p:spPr>
        <p:txBody>
          <a:bodyPr wrap="square" lIns="0" tIns="0" rIns="0" bIns="0" rtlCol="0" anchor="t">
            <a:normAutofit/>
          </a:bodyPr>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A clear promise in Telugu, with English one tap away.</a:t>
            </a:r>
            <a:endParaRPr lang="en-US" sz="1150" dirty="0"/>
          </a:p>
        </p:txBody>
      </p:sp>
      <p:pic>
        <p:nvPicPr>
          <p:cNvPr id="7" name="Image 1" descr="preencoded.png">    </p:cNvPr>
          <p:cNvPicPr>
            <a:picLocks noChangeAspect="1"/>
          </p:cNvPicPr>
          <p:nvPr/>
        </p:nvPicPr>
        <p:blipFill>
          <a:blip r:embed="rId2"/>
          <a:stretch>
            <a:fillRect/>
          </a:stretch>
        </p:blipFill>
        <p:spPr>
          <a:xfrm>
            <a:off x="4495688" y="1681262"/>
            <a:ext cx="3200320" cy="1800225"/>
          </a:xfrm>
          <a:prstGeom prst="rect">
            <a:avLst/>
          </a:prstGeom>
        </p:spPr>
      </p:pic>
      <p:sp>
        <p:nvSpPr>
          <p:cNvPr id="8" name="Text 4"/>
          <p:cNvSpPr/>
          <p:nvPr/>
        </p:nvSpPr>
        <p:spPr>
          <a:xfrm>
            <a:off x="4495688" y="3671987"/>
            <a:ext cx="3200320" cy="284659"/>
          </a:xfrm>
          <a:prstGeom prst="rect">
            <a:avLst/>
          </a:prstGeom>
          <a:noFill/>
          <a:ln/>
        </p:spPr>
        <p:txBody>
          <a:bodyPr wrap="none" lIns="0" tIns="0" rIns="0" bIns="0" rtlCol="0" anchor="t"/>
          <a:lstStyle/>
          <a:p>
            <a:pPr algn="l" indent="0" marL="0">
              <a:lnSpc>
                <a:spcPct val="98000"/>
              </a:lnSpc>
              <a:buNone/>
            </a:pPr>
            <a:r>
              <a:rPr lang="en-US" sz="1900" dirty="0">
                <a:solidFill>
                  <a:srgbClr val="000000"/>
                </a:solidFill>
                <a:latin typeface="Noto Sans Telugu SemiBold" pitchFamily="34" charset="0"/>
                <a:ea typeface="Noto Sans Telugu SemiBold" pitchFamily="34" charset="-122"/>
                <a:cs typeface="Noto Sans Telugu SemiBold" pitchFamily="34" charset="-120"/>
              </a:rPr>
              <a:t>Home</a:t>
            </a:r>
            <a:endParaRPr lang="en-US" sz="1900" dirty="0"/>
          </a:p>
        </p:txBody>
      </p:sp>
      <p:sp>
        <p:nvSpPr>
          <p:cNvPr id="9" name="Text 5"/>
          <p:cNvSpPr/>
          <p:nvPr/>
        </p:nvSpPr>
        <p:spPr>
          <a:xfrm>
            <a:off x="4495688" y="4109045"/>
            <a:ext cx="3200320" cy="335756"/>
          </a:xfrm>
          <a:prstGeom prst="rect">
            <a:avLst/>
          </a:prstGeom>
          <a:noFill/>
          <a:ln/>
        </p:spPr>
        <p:txBody>
          <a:bodyPr wrap="square" lIns="0" tIns="0" rIns="0" bIns="0" rtlCol="0" anchor="t">
            <a:normAutofit/>
          </a:bodyPr>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Six familiar routes, sized for a thumb and a quick glance.</a:t>
            </a:r>
            <a:endParaRPr lang="en-US" sz="1150" dirty="0"/>
          </a:p>
        </p:txBody>
      </p:sp>
      <p:pic>
        <p:nvPicPr>
          <p:cNvPr id="10" name="Image 2" descr="preencoded.png">    </p:cNvPr>
          <p:cNvPicPr>
            <a:picLocks noChangeAspect="1"/>
          </p:cNvPicPr>
          <p:nvPr/>
        </p:nvPicPr>
        <p:blipFill>
          <a:blip r:embed="rId3"/>
          <a:stretch>
            <a:fillRect/>
          </a:stretch>
        </p:blipFill>
        <p:spPr>
          <a:xfrm>
            <a:off x="8153196" y="1681262"/>
            <a:ext cx="3428914" cy="1928813"/>
          </a:xfrm>
          <a:prstGeom prst="rect">
            <a:avLst/>
          </a:prstGeom>
        </p:spPr>
      </p:pic>
      <p:sp>
        <p:nvSpPr>
          <p:cNvPr id="11" name="Text 6"/>
          <p:cNvSpPr/>
          <p:nvPr/>
        </p:nvSpPr>
        <p:spPr>
          <a:xfrm>
            <a:off x="8153196" y="3800574"/>
            <a:ext cx="3428914" cy="284659"/>
          </a:xfrm>
          <a:prstGeom prst="rect">
            <a:avLst/>
          </a:prstGeom>
          <a:noFill/>
          <a:ln/>
        </p:spPr>
        <p:txBody>
          <a:bodyPr wrap="none" lIns="0" tIns="0" rIns="0" bIns="0" rtlCol="0" anchor="t"/>
          <a:lstStyle/>
          <a:p>
            <a:pPr algn="l" indent="0" marL="0">
              <a:lnSpc>
                <a:spcPct val="98000"/>
              </a:lnSpc>
              <a:buNone/>
            </a:pPr>
            <a:r>
              <a:rPr lang="en-US" sz="1900" dirty="0">
                <a:solidFill>
                  <a:srgbClr val="000000"/>
                </a:solidFill>
                <a:latin typeface="Noto Sans Telugu SemiBold" pitchFamily="34" charset="0"/>
                <a:ea typeface="Noto Sans Telugu SemiBold" pitchFamily="34" charset="-122"/>
                <a:cs typeface="Noto Sans Telugu SemiBold" pitchFamily="34" charset="-120"/>
              </a:rPr>
              <a:t>Language + comfort</a:t>
            </a:r>
            <a:endParaRPr lang="en-US" sz="1900" dirty="0"/>
          </a:p>
        </p:txBody>
      </p:sp>
      <p:sp>
        <p:nvSpPr>
          <p:cNvPr id="12" name="Text 7"/>
          <p:cNvSpPr/>
          <p:nvPr/>
        </p:nvSpPr>
        <p:spPr>
          <a:xfrm>
            <a:off x="8153196" y="4237633"/>
            <a:ext cx="3428914" cy="335756"/>
          </a:xfrm>
          <a:prstGeom prst="rect">
            <a:avLst/>
          </a:prstGeom>
          <a:noFill/>
          <a:ln/>
        </p:spPr>
        <p:txBody>
          <a:bodyPr wrap="square" lIns="0" tIns="0" rIns="0" bIns="0" rtlCol="0" anchor="t">
            <a:normAutofit/>
          </a:bodyPr>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Readable copy, familiar icons, and a consistent way back.</a:t>
            </a:r>
            <a:endParaRPr lang="en-US" sz="1150" dirty="0"/>
          </a:p>
        </p:txBody>
      </p:sp>
      <p:sp>
        <p:nvSpPr>
          <p:cNvPr id="13" name="Shape 8"/>
          <p:cNvSpPr/>
          <p:nvPr/>
        </p:nvSpPr>
        <p:spPr>
          <a:xfrm>
            <a:off x="4260743" y="1681262"/>
            <a:ext cx="12700" cy="2892127"/>
          </a:xfrm>
          <a:prstGeom prst="rect">
            <a:avLst/>
          </a:prstGeom>
          <a:solidFill>
            <a:srgbClr val="4A644E"/>
          </a:solidFill>
          <a:ln/>
        </p:spPr>
      </p:sp>
      <p:sp>
        <p:nvSpPr>
          <p:cNvPr id="14" name="Shape 9"/>
          <p:cNvSpPr/>
          <p:nvPr/>
        </p:nvSpPr>
        <p:spPr>
          <a:xfrm>
            <a:off x="7918252" y="1681262"/>
            <a:ext cx="12700" cy="2892127"/>
          </a:xfrm>
          <a:prstGeom prst="rect">
            <a:avLst/>
          </a:prstGeom>
          <a:solidFill>
            <a:srgbClr val="4A644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4693822" cy="6858000"/>
          </a:xfrm>
          <a:prstGeom prst="roundRect">
            <a:avLst>
              <a:gd name="adj" fmla="val 3896"/>
            </a:avLst>
          </a:prstGeom>
          <a:solidFill>
            <a:srgbClr val="FAFFFA"/>
          </a:solidFill>
          <a:ln/>
        </p:spPr>
      </p:sp>
      <p:pic>
        <p:nvPicPr>
          <p:cNvPr id="3" name="Image 0" descr="preencoded.png">    </p:cNvPr>
          <p:cNvPicPr>
            <a:picLocks noChangeAspect="1"/>
          </p:cNvPicPr>
          <p:nvPr/>
        </p:nvPicPr>
        <p:blipFill>
          <a:blip r:embed="rId1"/>
          <a:stretch>
            <a:fillRect/>
          </a:stretch>
        </p:blipFill>
        <p:spPr>
          <a:xfrm>
            <a:off x="0" y="0"/>
            <a:ext cx="4693822" cy="6858000"/>
          </a:xfrm>
          <a:prstGeom prst="rect">
            <a:avLst/>
          </a:prstGeom>
        </p:spPr>
      </p:pic>
      <p:sp>
        <p:nvSpPr>
          <p:cNvPr id="4" name="Shape 1"/>
          <p:cNvSpPr/>
          <p:nvPr/>
        </p:nvSpPr>
        <p:spPr>
          <a:xfrm>
            <a:off x="5150912" y="0"/>
            <a:ext cx="7040783" cy="6858000"/>
          </a:xfrm>
          <a:custGeom>
            <a:avLst/>
            <a:gdLst/>
            <a:ahLst/>
            <a:cxnLst/>
            <a:rect l="l" t="t" r="r" b="b"/>
            <a:pathLst>
              <a:path w="7040783" h="6858000">
                <a:moveTo>
                  <a:pt x="0" y="0"/>
                </a:moveTo>
                <a:lnTo>
                  <a:pt x="6796987" y="0"/>
                </a:lnTo>
                <a:arcTo hR="243802" wR="243796" stAng="16200000" swAng="5400000"/>
                <a:lnTo>
                  <a:pt x="7040783" y="6614198"/>
                </a:lnTo>
                <a:arcTo hR="243802" wR="243796" stAng="0" swAng="5400000"/>
                <a:lnTo>
                  <a:pt x="0" y="6858000"/>
                </a:lnTo>
                <a:lnTo>
                  <a:pt x="0" y="0"/>
                </a:lnTo>
                <a:close/>
              </a:path>
            </a:pathLst>
          </a:custGeom>
          <a:solidFill>
            <a:srgbClr val="FAFFFA"/>
          </a:solidFill>
          <a:ln/>
        </p:spPr>
      </p:sp>
      <p:sp>
        <p:nvSpPr>
          <p:cNvPr id="5" name="Text 2"/>
          <p:cNvSpPr/>
          <p:nvPr/>
        </p:nvSpPr>
        <p:spPr>
          <a:xfrm>
            <a:off x="5760497" y="609600"/>
            <a:ext cx="6431198" cy="153293"/>
          </a:xfrm>
          <a:prstGeom prst="rect">
            <a:avLst/>
          </a:prstGeom>
          <a:noFill/>
          <a:ln/>
        </p:spPr>
        <p:txBody>
          <a:bodyPr wrap="none" lIns="0" tIns="0" rIns="0" bIns="0" rtlCol="0" anchor="t"/>
          <a:lstStyle/>
          <a:p>
            <a:pPr algn="l" indent="0" marL="0">
              <a:lnSpc>
                <a:spcPct val="96000"/>
              </a:lnSpc>
              <a:buNone/>
            </a:pPr>
            <a:r>
              <a:rPr lang="en-US" sz="1050" spc="47" kern="0" dirty="0">
                <a:solidFill>
                  <a:srgbClr val="000000"/>
                </a:solidFill>
                <a:latin typeface="Noto Sans Telugu SemiBold" pitchFamily="34" charset="0"/>
                <a:ea typeface="Noto Sans Telugu SemiBold" pitchFamily="34" charset="-122"/>
                <a:cs typeface="Noto Sans Telugu SemiBold" pitchFamily="34" charset="-120"/>
              </a:rPr>
              <a:t>PHOTO DIAGNOSIS</a:t>
            </a:r>
            <a:endParaRPr lang="en-US" sz="1050" dirty="0"/>
          </a:p>
        </p:txBody>
      </p:sp>
      <p:sp>
        <p:nvSpPr>
          <p:cNvPr id="6" name="Text 3"/>
          <p:cNvSpPr/>
          <p:nvPr/>
        </p:nvSpPr>
        <p:spPr>
          <a:xfrm>
            <a:off x="5760497" y="848618"/>
            <a:ext cx="5821614" cy="1003697"/>
          </a:xfrm>
          <a:prstGeom prst="rect">
            <a:avLst/>
          </a:prstGeom>
          <a:noFill/>
          <a:ln/>
        </p:spPr>
        <p:txBody>
          <a:bodyPr wrap="square" lIns="0" tIns="0" rIns="0" bIns="0" rtlCol="0" anchor="t">
            <a:normAutofit/>
          </a:bodyPr>
          <a:lstStyle/>
          <a:p>
            <a:pPr algn="l" indent="0" marL="0">
              <a:lnSpc>
                <a:spcPct val="87000"/>
              </a:lnSpc>
              <a:buNone/>
            </a:pPr>
            <a:r>
              <a:rPr lang="en-US" sz="3800" spc="-46" kern="0" dirty="0">
                <a:solidFill>
                  <a:srgbClr val="000000"/>
                </a:solidFill>
                <a:latin typeface="Noto Sans Telugu ExtraBold" pitchFamily="34" charset="0"/>
                <a:ea typeface="Noto Sans Telugu ExtraBold" pitchFamily="34" charset="-122"/>
                <a:cs typeface="Noto Sans Telugu ExtraBold" pitchFamily="34" charset="-120"/>
              </a:rPr>
              <a:t>Diagnose with a photo, then watch it scan</a:t>
            </a:r>
            <a:endParaRPr lang="en-US" sz="3800" dirty="0"/>
          </a:p>
        </p:txBody>
      </p:sp>
      <p:sp>
        <p:nvSpPr>
          <p:cNvPr id="7" name="Text 4"/>
          <p:cNvSpPr/>
          <p:nvPr/>
        </p:nvSpPr>
        <p:spPr>
          <a:xfrm>
            <a:off x="5760497" y="2065040"/>
            <a:ext cx="5821614" cy="816769"/>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Start with the camera or choose a photo already on the phone. A short voice prompt explains how to frame one useful leaf.</a:t>
            </a:r>
            <a:endParaRPr lang="en-US" sz="1600" dirty="0"/>
          </a:p>
        </p:txBody>
      </p:sp>
      <p:sp>
        <p:nvSpPr>
          <p:cNvPr id="8" name="Text 5"/>
          <p:cNvSpPr/>
          <p:nvPr/>
        </p:nvSpPr>
        <p:spPr>
          <a:xfrm>
            <a:off x="5760497" y="3072309"/>
            <a:ext cx="1711877"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1 · Capture</a:t>
            </a:r>
            <a:endParaRPr lang="en-US" sz="2400" dirty="0"/>
          </a:p>
        </p:txBody>
      </p:sp>
      <p:sp>
        <p:nvSpPr>
          <p:cNvPr id="9" name="Text 6"/>
          <p:cNvSpPr/>
          <p:nvPr/>
        </p:nvSpPr>
        <p:spPr>
          <a:xfrm>
            <a:off x="5760497" y="3584277"/>
            <a:ext cx="1711877" cy="1089025"/>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“కెమెరాతో ఫోటో తీయండి” or “గ్యాలరీ నుంచి ఎంచుకోండి”.</a:t>
            </a:r>
            <a:endParaRPr lang="en-US" sz="1600" dirty="0"/>
          </a:p>
        </p:txBody>
      </p:sp>
      <p:sp>
        <p:nvSpPr>
          <p:cNvPr id="10" name="Text 7"/>
          <p:cNvSpPr/>
          <p:nvPr/>
        </p:nvSpPr>
        <p:spPr>
          <a:xfrm>
            <a:off x="7929563" y="3072309"/>
            <a:ext cx="1483382"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2 · Scan</a:t>
            </a:r>
            <a:endParaRPr lang="en-US" sz="2400" dirty="0"/>
          </a:p>
        </p:txBody>
      </p:sp>
      <p:sp>
        <p:nvSpPr>
          <p:cNvPr id="11" name="Text 8"/>
          <p:cNvSpPr/>
          <p:nvPr/>
        </p:nvSpPr>
        <p:spPr>
          <a:xfrm>
            <a:off x="7929563" y="3584277"/>
            <a:ext cx="1483382" cy="1361281"/>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“పంటను పరిశీలిస్తోంది…” with a calm scan line and crop outline.</a:t>
            </a:r>
            <a:endParaRPr lang="en-US" sz="1600" dirty="0"/>
          </a:p>
        </p:txBody>
      </p:sp>
      <p:sp>
        <p:nvSpPr>
          <p:cNvPr id="12" name="Text 9"/>
          <p:cNvSpPr/>
          <p:nvPr/>
        </p:nvSpPr>
        <p:spPr>
          <a:xfrm>
            <a:off x="9870134" y="3072309"/>
            <a:ext cx="1711877" cy="719138"/>
          </a:xfrm>
          <a:prstGeom prst="rect">
            <a:avLst/>
          </a:prstGeom>
          <a:noFill/>
          <a:ln/>
        </p:spPr>
        <p:txBody>
          <a:bodyPr wrap="square" lIns="0" tIns="0" rIns="0" bIns="0" rtlCol="0" anchor="t">
            <a:normAutofit/>
          </a:bodyPr>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3 · Continue</a:t>
            </a:r>
            <a:endParaRPr lang="en-US" sz="2400" dirty="0"/>
          </a:p>
        </p:txBody>
      </p:sp>
      <p:sp>
        <p:nvSpPr>
          <p:cNvPr id="13" name="Text 10"/>
          <p:cNvSpPr/>
          <p:nvPr/>
        </p:nvSpPr>
        <p:spPr>
          <a:xfrm>
            <a:off x="9870134" y="3943846"/>
            <a:ext cx="1711877" cy="1089025"/>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Large Android-friendly buttons keep the task comfortable.</a:t>
            </a:r>
            <a:endParaRPr lang="en-US" sz="1600" dirty="0"/>
          </a:p>
        </p:txBody>
      </p:sp>
      <p:sp>
        <p:nvSpPr>
          <p:cNvPr id="14" name="Text 11"/>
          <p:cNvSpPr/>
          <p:nvPr/>
        </p:nvSpPr>
        <p:spPr>
          <a:xfrm>
            <a:off x="5760497" y="5223371"/>
            <a:ext cx="6431198" cy="167878"/>
          </a:xfrm>
          <a:prstGeom prst="rect">
            <a:avLst/>
          </a:prstGeom>
          <a:noFill/>
          <a:ln/>
        </p:spPr>
        <p:txBody>
          <a:bodyPr wrap="none" lIns="0" tIns="0" rIns="0" bIns="0" rtlCol="0" anchor="t"/>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Voice and text support stay available throughout the flow.</a:t>
            </a:r>
            <a:endParaRPr lang="en-US" sz="1150" dirty="0"/>
          </a:p>
        </p:txBody>
      </p:sp>
      <p:sp>
        <p:nvSpPr>
          <p:cNvPr id="15" name="Shape 12"/>
          <p:cNvSpPr/>
          <p:nvPr/>
        </p:nvSpPr>
        <p:spPr>
          <a:xfrm>
            <a:off x="7694618" y="3072309"/>
            <a:ext cx="12700" cy="1960562"/>
          </a:xfrm>
          <a:prstGeom prst="rect">
            <a:avLst/>
          </a:prstGeom>
          <a:solidFill>
            <a:srgbClr val="4A644E"/>
          </a:solidFill>
          <a:ln/>
        </p:spPr>
      </p:sp>
      <p:sp>
        <p:nvSpPr>
          <p:cNvPr id="16" name="Shape 13"/>
          <p:cNvSpPr/>
          <p:nvPr/>
        </p:nvSpPr>
        <p:spPr>
          <a:xfrm>
            <a:off x="9635189" y="3072309"/>
            <a:ext cx="12700" cy="1960562"/>
          </a:xfrm>
          <a:prstGeom prst="rect">
            <a:avLst/>
          </a:prstGeom>
          <a:solidFill>
            <a:srgbClr val="4A644E"/>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0972526" cy="396180"/>
          </a:xfrm>
          <a:prstGeom prst="rect">
            <a:avLst/>
          </a:prstGeom>
          <a:noFill/>
          <a:ln/>
        </p:spPr>
        <p:txBody>
          <a:bodyPr wrap="none" lIns="0" tIns="0" rIns="0" bIns="0" rtlCol="0" anchor="t"/>
          <a:lstStyle/>
          <a:p>
            <a:pPr algn="l" indent="0" marL="0">
              <a:lnSpc>
                <a:spcPct val="87000"/>
              </a:lnSpc>
              <a:buNone/>
            </a:pPr>
            <a:r>
              <a:rPr lang="en-US" sz="3000" spc="-36" kern="0" dirty="0">
                <a:solidFill>
                  <a:srgbClr val="000000"/>
                </a:solidFill>
                <a:latin typeface="Noto Sans Telugu ExtraBold" pitchFamily="34" charset="0"/>
                <a:ea typeface="Noto Sans Telugu ExtraBold" pitchFamily="34" charset="-122"/>
                <a:cs typeface="Noto Sans Telugu ExtraBold" pitchFamily="34" charset="-120"/>
              </a:rPr>
              <a:t>Results explain the problem and the next action</a:t>
            </a:r>
            <a:endParaRPr lang="en-US" sz="3000" dirty="0"/>
          </a:p>
        </p:txBody>
      </p:sp>
      <p:pic>
        <p:nvPicPr>
          <p:cNvPr id="3" name="Image 0" descr="preencoded.png">    </p:cNvPr>
          <p:cNvPicPr>
            <a:picLocks noChangeAspect="1"/>
          </p:cNvPicPr>
          <p:nvPr/>
        </p:nvPicPr>
        <p:blipFill>
          <a:blip r:embed="rId1"/>
          <a:stretch>
            <a:fillRect/>
          </a:stretch>
        </p:blipFill>
        <p:spPr>
          <a:xfrm>
            <a:off x="609585" y="1218505"/>
            <a:ext cx="3047924" cy="1714500"/>
          </a:xfrm>
          <a:prstGeom prst="rect">
            <a:avLst/>
          </a:prstGeom>
        </p:spPr>
      </p:pic>
      <p:sp>
        <p:nvSpPr>
          <p:cNvPr id="4" name="Text 1"/>
          <p:cNvSpPr/>
          <p:nvPr/>
        </p:nvSpPr>
        <p:spPr>
          <a:xfrm>
            <a:off x="609585" y="3123505"/>
            <a:ext cx="5257668"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Explain simply</a:t>
            </a:r>
            <a:endParaRPr lang="en-US" sz="2400" dirty="0"/>
          </a:p>
        </p:txBody>
      </p:sp>
      <p:sp>
        <p:nvSpPr>
          <p:cNvPr id="5" name="Text 2"/>
          <p:cNvSpPr/>
          <p:nvPr/>
        </p:nvSpPr>
        <p:spPr>
          <a:xfrm>
            <a:off x="609585" y="3635474"/>
            <a:ext cx="5257668"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Detected crop: వరి. Possible issue: ఆకుమచ్చ వ్యాధి. Prototype example: 92% match.</a:t>
            </a:r>
            <a:endParaRPr lang="en-US" sz="1600" dirty="0"/>
          </a:p>
        </p:txBody>
      </p:sp>
      <p:pic>
        <p:nvPicPr>
          <p:cNvPr id="6" name="Image 1" descr="preencoded.png">    </p:cNvPr>
          <p:cNvPicPr>
            <a:picLocks noChangeAspect="1"/>
          </p:cNvPicPr>
          <p:nvPr/>
        </p:nvPicPr>
        <p:blipFill>
          <a:blip r:embed="rId2"/>
          <a:stretch>
            <a:fillRect/>
          </a:stretch>
        </p:blipFill>
        <p:spPr>
          <a:xfrm>
            <a:off x="6324442" y="1218505"/>
            <a:ext cx="3047924" cy="1714500"/>
          </a:xfrm>
          <a:prstGeom prst="rect">
            <a:avLst/>
          </a:prstGeom>
        </p:spPr>
      </p:pic>
      <p:sp>
        <p:nvSpPr>
          <p:cNvPr id="7" name="Text 3"/>
          <p:cNvSpPr/>
          <p:nvPr/>
        </p:nvSpPr>
        <p:spPr>
          <a:xfrm>
            <a:off x="6324442" y="3123505"/>
            <a:ext cx="5257668"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Make action visible</a:t>
            </a:r>
            <a:endParaRPr lang="en-US" sz="2400" dirty="0"/>
          </a:p>
        </p:txBody>
      </p:sp>
      <p:sp>
        <p:nvSpPr>
          <p:cNvPr id="8" name="Text 4"/>
          <p:cNvSpPr/>
          <p:nvPr/>
        </p:nvSpPr>
        <p:spPr>
          <a:xfrm>
            <a:off x="6324442" y="3635474"/>
            <a:ext cx="5257668" cy="816769"/>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Voice playback + readable text. Symptoms, likely causes, prevention, care, and treatment: short Telugu steps.</a:t>
            </a:r>
            <a:endParaRPr lang="en-US" sz="1600" dirty="0"/>
          </a:p>
        </p:txBody>
      </p:sp>
      <p:sp>
        <p:nvSpPr>
          <p:cNvPr id="9" name="Shape 5"/>
          <p:cNvSpPr/>
          <p:nvPr/>
        </p:nvSpPr>
        <p:spPr>
          <a:xfrm>
            <a:off x="609585" y="4642743"/>
            <a:ext cx="10972526" cy="874415"/>
          </a:xfrm>
          <a:prstGeom prst="roundRect">
            <a:avLst>
              <a:gd name="adj" fmla="val 20914"/>
            </a:avLst>
          </a:prstGeom>
          <a:solidFill>
            <a:srgbClr val="DFEEE2"/>
          </a:solidFill>
          <a:ln/>
        </p:spPr>
      </p:sp>
      <p:sp>
        <p:nvSpPr>
          <p:cNvPr id="10" name="Text 6"/>
          <p:cNvSpPr/>
          <p:nvPr/>
        </p:nvSpPr>
        <p:spPr>
          <a:xfrm>
            <a:off x="772101" y="4805263"/>
            <a:ext cx="11257078" cy="153293"/>
          </a:xfrm>
          <a:prstGeom prst="rect">
            <a:avLst/>
          </a:prstGeom>
          <a:noFill/>
          <a:ln/>
        </p:spPr>
        <p:txBody>
          <a:bodyPr wrap="none" lIns="0" tIns="0" rIns="0" bIns="0" rtlCol="0" anchor="t"/>
          <a:lstStyle/>
          <a:p>
            <a:pPr algn="l" indent="0" marL="0">
              <a:lnSpc>
                <a:spcPct val="96000"/>
              </a:lnSpc>
              <a:buNone/>
            </a:pPr>
            <a:r>
              <a:rPr lang="en-US" sz="1050" spc="47" kern="0" dirty="0">
                <a:solidFill>
                  <a:srgbClr val="000000"/>
                </a:solidFill>
                <a:latin typeface="Noto Sans Telugu SemiBold" pitchFamily="34" charset="0"/>
                <a:ea typeface="Noto Sans Telugu SemiBold" pitchFamily="34" charset="-122"/>
                <a:cs typeface="Noto Sans Telugu SemiBold" pitchFamily="34" charset="-120"/>
              </a:rPr>
              <a:t>TRUST NOTE</a:t>
            </a:r>
            <a:endParaRPr lang="en-US" sz="1050" dirty="0"/>
          </a:p>
        </p:txBody>
      </p:sp>
      <p:sp>
        <p:nvSpPr>
          <p:cNvPr id="11" name="Text 7"/>
          <p:cNvSpPr/>
          <p:nvPr/>
        </p:nvSpPr>
        <p:spPr>
          <a:xfrm>
            <a:off x="772101" y="5082381"/>
            <a:ext cx="11257078"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Low-confidence results ask for expert confirmation.</a:t>
            </a:r>
            <a:endParaRPr lang="en-US" sz="1600" dirty="0"/>
          </a:p>
        </p:txBody>
      </p:sp>
      <p:sp>
        <p:nvSpPr>
          <p:cNvPr id="12" name="Shape 8"/>
          <p:cNvSpPr/>
          <p:nvPr/>
        </p:nvSpPr>
        <p:spPr>
          <a:xfrm>
            <a:off x="6089498" y="1218505"/>
            <a:ext cx="12700" cy="3233738"/>
          </a:xfrm>
          <a:prstGeom prst="rect">
            <a:avLst/>
          </a:prstGeom>
          <a:solidFill>
            <a:srgbClr val="4A644E"/>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0972526" cy="396180"/>
          </a:xfrm>
          <a:prstGeom prst="rect">
            <a:avLst/>
          </a:prstGeom>
          <a:noFill/>
          <a:ln/>
        </p:spPr>
        <p:txBody>
          <a:bodyPr wrap="none" lIns="0" tIns="0" rIns="0" bIns="0" rtlCol="0" anchor="t"/>
          <a:lstStyle/>
          <a:p>
            <a:pPr algn="l" indent="0" marL="0">
              <a:lnSpc>
                <a:spcPct val="87000"/>
              </a:lnSpc>
              <a:buNone/>
            </a:pPr>
            <a:r>
              <a:rPr lang="en-US" sz="3000" spc="-36" kern="0" dirty="0">
                <a:solidFill>
                  <a:srgbClr val="000000"/>
                </a:solidFill>
                <a:latin typeface="Noto Sans Telugu ExtraBold" pitchFamily="34" charset="0"/>
                <a:ea typeface="Noto Sans Telugu ExtraBold" pitchFamily="34" charset="-122"/>
                <a:cs typeface="Noto Sans Telugu ExtraBold" pitchFamily="34" charset="-120"/>
              </a:rPr>
              <a:t>Recognize crops and read the weather in one place</a:t>
            </a:r>
            <a:endParaRPr lang="en-US" sz="3000" dirty="0"/>
          </a:p>
        </p:txBody>
      </p:sp>
      <p:sp>
        <p:nvSpPr>
          <p:cNvPr id="3" name="Shape 1"/>
          <p:cNvSpPr/>
          <p:nvPr/>
        </p:nvSpPr>
        <p:spPr>
          <a:xfrm>
            <a:off x="609585" y="1267718"/>
            <a:ext cx="10972526" cy="31651"/>
          </a:xfrm>
          <a:prstGeom prst="roundRect">
            <a:avLst>
              <a:gd name="adj" fmla="val 49998"/>
            </a:avLst>
          </a:prstGeom>
          <a:solidFill>
            <a:srgbClr val="4A644E"/>
          </a:solidFill>
          <a:ln/>
        </p:spPr>
      </p:sp>
      <p:pic>
        <p:nvPicPr>
          <p:cNvPr id="4" name="Image 0" descr="preencoded.png">    </p:cNvPr>
          <p:cNvPicPr>
            <a:picLocks noChangeAspect="1"/>
          </p:cNvPicPr>
          <p:nvPr/>
        </p:nvPicPr>
        <p:blipFill>
          <a:blip r:embed="rId1"/>
          <a:stretch>
            <a:fillRect/>
          </a:stretch>
        </p:blipFill>
        <p:spPr>
          <a:xfrm>
            <a:off x="609585" y="1539180"/>
            <a:ext cx="3428914" cy="1928813"/>
          </a:xfrm>
          <a:prstGeom prst="rect">
            <a:avLst/>
          </a:prstGeom>
        </p:spPr>
      </p:pic>
      <p:sp>
        <p:nvSpPr>
          <p:cNvPr id="5" name="Text 2"/>
          <p:cNvSpPr/>
          <p:nvPr/>
        </p:nvSpPr>
        <p:spPr>
          <a:xfrm>
            <a:off x="609585" y="3658493"/>
            <a:ext cx="3428914"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Know the crop</a:t>
            </a:r>
            <a:endParaRPr lang="en-US" sz="2400" dirty="0"/>
          </a:p>
        </p:txBody>
      </p:sp>
      <p:sp>
        <p:nvSpPr>
          <p:cNvPr id="6" name="Text 3"/>
          <p:cNvSpPr/>
          <p:nvPr/>
        </p:nvSpPr>
        <p:spPr>
          <a:xfrm>
            <a:off x="609585" y="4170462"/>
            <a:ext cx="3428914"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Choose from the crops farmers already grow.</a:t>
            </a:r>
            <a:endParaRPr lang="en-US" sz="1600" dirty="0"/>
          </a:p>
        </p:txBody>
      </p:sp>
      <p:pic>
        <p:nvPicPr>
          <p:cNvPr id="7" name="Image 1" descr="preencoded.png">    </p:cNvPr>
          <p:cNvPicPr>
            <a:picLocks noChangeAspect="1"/>
          </p:cNvPicPr>
          <p:nvPr/>
        </p:nvPicPr>
        <p:blipFill>
          <a:blip r:embed="rId2"/>
          <a:stretch>
            <a:fillRect/>
          </a:stretch>
        </p:blipFill>
        <p:spPr>
          <a:xfrm>
            <a:off x="4495688" y="1539180"/>
            <a:ext cx="3200320" cy="1800225"/>
          </a:xfrm>
          <a:prstGeom prst="rect">
            <a:avLst/>
          </a:prstGeom>
        </p:spPr>
      </p:pic>
      <p:sp>
        <p:nvSpPr>
          <p:cNvPr id="8" name="Text 4"/>
          <p:cNvSpPr/>
          <p:nvPr/>
        </p:nvSpPr>
        <p:spPr>
          <a:xfrm>
            <a:off x="4495688" y="3529905"/>
            <a:ext cx="3200320"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Read the weather</a:t>
            </a:r>
            <a:endParaRPr lang="en-US" sz="2400" dirty="0"/>
          </a:p>
        </p:txBody>
      </p:sp>
      <p:sp>
        <p:nvSpPr>
          <p:cNvPr id="9" name="Text 5"/>
          <p:cNvSpPr/>
          <p:nvPr/>
        </p:nvSpPr>
        <p:spPr>
          <a:xfrm>
            <a:off x="4495688" y="4041874"/>
            <a:ext cx="3200320" cy="816769"/>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Keep temperature, rain possibility, humidity, and wind together.</a:t>
            </a:r>
            <a:endParaRPr lang="en-US" sz="1600" dirty="0"/>
          </a:p>
        </p:txBody>
      </p:sp>
      <p:pic>
        <p:nvPicPr>
          <p:cNvPr id="10" name="Image 2" descr="preencoded.png">    </p:cNvPr>
          <p:cNvPicPr>
            <a:picLocks noChangeAspect="1"/>
          </p:cNvPicPr>
          <p:nvPr/>
        </p:nvPicPr>
        <p:blipFill>
          <a:blip r:embed="rId3"/>
          <a:stretch>
            <a:fillRect/>
          </a:stretch>
        </p:blipFill>
        <p:spPr>
          <a:xfrm>
            <a:off x="8153196" y="1539180"/>
            <a:ext cx="3428914" cy="1928813"/>
          </a:xfrm>
          <a:prstGeom prst="rect">
            <a:avLst/>
          </a:prstGeom>
        </p:spPr>
      </p:pic>
      <p:sp>
        <p:nvSpPr>
          <p:cNvPr id="11" name="Text 6"/>
          <p:cNvSpPr/>
          <p:nvPr/>
        </p:nvSpPr>
        <p:spPr>
          <a:xfrm>
            <a:off x="8153196" y="3658493"/>
            <a:ext cx="3428914"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Act on alerts</a:t>
            </a:r>
            <a:endParaRPr lang="en-US" sz="2400" dirty="0"/>
          </a:p>
        </p:txBody>
      </p:sp>
      <p:sp>
        <p:nvSpPr>
          <p:cNvPr id="12" name="Text 7"/>
          <p:cNvSpPr/>
          <p:nvPr/>
        </p:nvSpPr>
        <p:spPr>
          <a:xfrm>
            <a:off x="8153196" y="4170462"/>
            <a:ext cx="3428914"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Turn conditions into practical reminders, not another dashboard.</a:t>
            </a:r>
            <a:endParaRPr lang="en-US" sz="1600" dirty="0"/>
          </a:p>
        </p:txBody>
      </p:sp>
      <p:sp>
        <p:nvSpPr>
          <p:cNvPr id="13" name="Shape 8"/>
          <p:cNvSpPr/>
          <p:nvPr/>
        </p:nvSpPr>
        <p:spPr>
          <a:xfrm>
            <a:off x="4260743" y="1539180"/>
            <a:ext cx="12700" cy="3319463"/>
          </a:xfrm>
          <a:prstGeom prst="rect">
            <a:avLst/>
          </a:prstGeom>
          <a:solidFill>
            <a:srgbClr val="4A644E"/>
          </a:solidFill>
          <a:ln/>
        </p:spPr>
      </p:sp>
      <p:sp>
        <p:nvSpPr>
          <p:cNvPr id="14" name="Shape 9"/>
          <p:cNvSpPr/>
          <p:nvPr/>
        </p:nvSpPr>
        <p:spPr>
          <a:xfrm>
            <a:off x="7918252" y="1539180"/>
            <a:ext cx="12700" cy="3319463"/>
          </a:xfrm>
          <a:prstGeom prst="rect">
            <a:avLst/>
          </a:prstGeom>
          <a:solidFill>
            <a:srgbClr val="4A644E"/>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7721407" cy="6858000"/>
          </a:xfrm>
          <a:custGeom>
            <a:avLst/>
            <a:gdLst/>
            <a:ahLst/>
            <a:cxnLst/>
            <a:rect l="l" t="t" r="r" b="b"/>
            <a:pathLst>
              <a:path w="7721407" h="6858000">
                <a:moveTo>
                  <a:pt x="243796" y="0"/>
                </a:moveTo>
                <a:lnTo>
                  <a:pt x="7721407" y="0"/>
                </a:lnTo>
                <a:lnTo>
                  <a:pt x="7721407" y="6858000"/>
                </a:lnTo>
                <a:lnTo>
                  <a:pt x="243796" y="6858000"/>
                </a:lnTo>
                <a:arcTo hR="243802" wR="243796" stAng="5400000" swAng="5400000"/>
                <a:lnTo>
                  <a:pt x="0" y="243802"/>
                </a:lnTo>
                <a:arcTo hR="243802" wR="243796" stAng="10800000" swAng="5400000"/>
                <a:close/>
              </a:path>
            </a:pathLst>
          </a:custGeom>
          <a:solidFill>
            <a:srgbClr val="FAFFFA"/>
          </a:solidFill>
          <a:ln/>
        </p:spPr>
      </p:sp>
      <p:sp>
        <p:nvSpPr>
          <p:cNvPr id="3" name="Text 1"/>
          <p:cNvSpPr/>
          <p:nvPr/>
        </p:nvSpPr>
        <p:spPr>
          <a:xfrm>
            <a:off x="609585" y="609600"/>
            <a:ext cx="6502237" cy="396180"/>
          </a:xfrm>
          <a:prstGeom prst="rect">
            <a:avLst/>
          </a:prstGeom>
          <a:noFill/>
          <a:ln/>
        </p:spPr>
        <p:txBody>
          <a:bodyPr wrap="none" lIns="0" tIns="0" rIns="0" bIns="0" rtlCol="0" anchor="t"/>
          <a:lstStyle/>
          <a:p>
            <a:pPr algn="l" indent="0" marL="0">
              <a:lnSpc>
                <a:spcPct val="87000"/>
              </a:lnSpc>
              <a:buNone/>
            </a:pPr>
            <a:r>
              <a:rPr lang="en-US" sz="3000" spc="-36" kern="0" dirty="0">
                <a:solidFill>
                  <a:srgbClr val="000000"/>
                </a:solidFill>
                <a:latin typeface="Noto Sans Telugu ExtraBold" pitchFamily="34" charset="0"/>
                <a:ea typeface="Noto Sans Telugu ExtraBold" pitchFamily="34" charset="-122"/>
                <a:cs typeface="Noto Sans Telugu ExtraBold" pitchFamily="34" charset="-120"/>
              </a:rPr>
              <a:t>Daily tips in voice or text</a:t>
            </a:r>
            <a:endParaRPr lang="en-US" sz="3000" dirty="0"/>
          </a:p>
        </p:txBody>
      </p:sp>
      <p:sp>
        <p:nvSpPr>
          <p:cNvPr id="4" name="Text 2"/>
          <p:cNvSpPr/>
          <p:nvPr/>
        </p:nvSpPr>
        <p:spPr>
          <a:xfrm>
            <a:off x="609585" y="1218505"/>
            <a:ext cx="6502237"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Useful guidance should fit between field work, not create more work.</a:t>
            </a:r>
            <a:endParaRPr lang="en-US" sz="1600" dirty="0"/>
          </a:p>
        </p:txBody>
      </p:sp>
      <p:sp>
        <p:nvSpPr>
          <p:cNvPr id="5" name="Shape 3"/>
          <p:cNvSpPr/>
          <p:nvPr/>
        </p:nvSpPr>
        <p:spPr>
          <a:xfrm>
            <a:off x="609585" y="1953518"/>
            <a:ext cx="6502237" cy="3614341"/>
          </a:xfrm>
          <a:prstGeom prst="roundRect">
            <a:avLst>
              <a:gd name="adj" fmla="val 5060"/>
            </a:avLst>
          </a:prstGeom>
          <a:solidFill>
            <a:srgbClr val="DFEEE2"/>
          </a:solidFill>
          <a:ln/>
        </p:spPr>
      </p:sp>
      <p:sp>
        <p:nvSpPr>
          <p:cNvPr id="6" name="Text 4"/>
          <p:cNvSpPr/>
          <p:nvPr/>
        </p:nvSpPr>
        <p:spPr>
          <a:xfrm>
            <a:off x="772101" y="2116038"/>
            <a:ext cx="2860008" cy="719138"/>
          </a:xfrm>
          <a:prstGeom prst="rect">
            <a:avLst/>
          </a:prstGeom>
          <a:noFill/>
          <a:ln/>
        </p:spPr>
        <p:txBody>
          <a:bodyPr wrap="square" lIns="0" tIns="0" rIns="0" bIns="0" rtlCol="0" anchor="t">
            <a:normAutofit/>
          </a:bodyPr>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Today’s crop-care tip</a:t>
            </a:r>
            <a:endParaRPr lang="en-US" sz="2400" dirty="0"/>
          </a:p>
        </p:txBody>
      </p:sp>
      <p:sp>
        <p:nvSpPr>
          <p:cNvPr id="7" name="Text 5"/>
          <p:cNvSpPr/>
          <p:nvPr/>
        </p:nvSpPr>
        <p:spPr>
          <a:xfrm>
            <a:off x="772101" y="2987576"/>
            <a:ext cx="2860008"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One short action for the crop in front of you.</a:t>
            </a:r>
            <a:endParaRPr lang="en-US" sz="1600" dirty="0"/>
          </a:p>
        </p:txBody>
      </p:sp>
      <p:sp>
        <p:nvSpPr>
          <p:cNvPr id="8" name="Text 6"/>
          <p:cNvSpPr/>
          <p:nvPr/>
        </p:nvSpPr>
        <p:spPr>
          <a:xfrm>
            <a:off x="4089298" y="2116038"/>
            <a:ext cx="2860008"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Fertilizer by stage</a:t>
            </a:r>
            <a:endParaRPr lang="en-US" sz="2400" dirty="0"/>
          </a:p>
        </p:txBody>
      </p:sp>
      <p:sp>
        <p:nvSpPr>
          <p:cNvPr id="9" name="Text 7"/>
          <p:cNvSpPr/>
          <p:nvPr/>
        </p:nvSpPr>
        <p:spPr>
          <a:xfrm>
            <a:off x="4089298" y="2628007"/>
            <a:ext cx="2860008"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Guidance that follows crop growth.</a:t>
            </a:r>
            <a:endParaRPr lang="en-US" sz="1600" dirty="0"/>
          </a:p>
        </p:txBody>
      </p:sp>
      <p:sp>
        <p:nvSpPr>
          <p:cNvPr id="10" name="Text 8"/>
          <p:cNvSpPr/>
          <p:nvPr/>
        </p:nvSpPr>
        <p:spPr>
          <a:xfrm>
            <a:off x="772101" y="3989288"/>
            <a:ext cx="2860008" cy="719138"/>
          </a:xfrm>
          <a:prstGeom prst="rect">
            <a:avLst/>
          </a:prstGeom>
          <a:noFill/>
          <a:ln/>
        </p:spPr>
        <p:txBody>
          <a:bodyPr wrap="square" lIns="0" tIns="0" rIns="0" bIns="0" rtlCol="0" anchor="t">
            <a:normAutofit/>
          </a:bodyPr>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Irrigation + weather</a:t>
            </a:r>
            <a:endParaRPr lang="en-US" sz="2400" dirty="0"/>
          </a:p>
        </p:txBody>
      </p:sp>
      <p:sp>
        <p:nvSpPr>
          <p:cNvPr id="11" name="Text 9"/>
          <p:cNvSpPr/>
          <p:nvPr/>
        </p:nvSpPr>
        <p:spPr>
          <a:xfrm>
            <a:off x="772101" y="4860826"/>
            <a:ext cx="2860008"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Suggestions that respond to changing conditions.</a:t>
            </a:r>
            <a:endParaRPr lang="en-US" sz="1600" dirty="0"/>
          </a:p>
        </p:txBody>
      </p:sp>
      <p:sp>
        <p:nvSpPr>
          <p:cNvPr id="12" name="Text 10"/>
          <p:cNvSpPr/>
          <p:nvPr/>
        </p:nvSpPr>
        <p:spPr>
          <a:xfrm>
            <a:off x="4089298" y="3989288"/>
            <a:ext cx="2860008"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Pest prevention</a:t>
            </a:r>
            <a:endParaRPr lang="en-US" sz="2400" dirty="0"/>
          </a:p>
        </p:txBody>
      </p:sp>
      <p:sp>
        <p:nvSpPr>
          <p:cNvPr id="13" name="Text 11"/>
          <p:cNvSpPr/>
          <p:nvPr/>
        </p:nvSpPr>
        <p:spPr>
          <a:xfrm>
            <a:off x="4089298" y="4501257"/>
            <a:ext cx="2860008"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Small reminders before a problem spreads.</a:t>
            </a:r>
            <a:endParaRPr lang="en-US" sz="1600" dirty="0"/>
          </a:p>
        </p:txBody>
      </p:sp>
      <p:sp>
        <p:nvSpPr>
          <p:cNvPr id="14" name="Text 12"/>
          <p:cNvSpPr/>
          <p:nvPr/>
        </p:nvSpPr>
        <p:spPr>
          <a:xfrm>
            <a:off x="609585" y="5758359"/>
            <a:ext cx="7111822" cy="167878"/>
          </a:xfrm>
          <a:prstGeom prst="rect">
            <a:avLst/>
          </a:prstGeom>
          <a:noFill/>
          <a:ln/>
        </p:spPr>
        <p:txBody>
          <a:bodyPr wrap="none" lIns="0" tIns="0" rIns="0" bIns="0" rtlCol="0" anchor="t"/>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Short voice cards, readable text cards, save and replay.</a:t>
            </a:r>
            <a:endParaRPr lang="en-US" sz="1150" dirty="0"/>
          </a:p>
        </p:txBody>
      </p:sp>
      <p:sp>
        <p:nvSpPr>
          <p:cNvPr id="15" name="Shape 13"/>
          <p:cNvSpPr/>
          <p:nvPr/>
        </p:nvSpPr>
        <p:spPr>
          <a:xfrm>
            <a:off x="7721407" y="0"/>
            <a:ext cx="4470288" cy="6858000"/>
          </a:xfrm>
          <a:prstGeom prst="roundRect">
            <a:avLst>
              <a:gd name="adj" fmla="val 4091"/>
            </a:avLst>
          </a:prstGeom>
          <a:solidFill>
            <a:srgbClr val="FAFFFA"/>
          </a:solidFill>
          <a:ln/>
        </p:spPr>
      </p:sp>
      <p:pic>
        <p:nvPicPr>
          <p:cNvPr id="16" name="Image 0" descr="preencoded.png">    </p:cNvPr>
          <p:cNvPicPr>
            <a:picLocks noChangeAspect="1"/>
          </p:cNvPicPr>
          <p:nvPr/>
        </p:nvPicPr>
        <p:blipFill>
          <a:blip r:embed="rId1"/>
          <a:stretch>
            <a:fillRect/>
          </a:stretch>
        </p:blipFill>
        <p:spPr>
          <a:xfrm>
            <a:off x="7721407" y="0"/>
            <a:ext cx="4470288" cy="6858000"/>
          </a:xfrm>
          <a:prstGeom prst="rect">
            <a:avLst/>
          </a:prstGeom>
        </p:spPr>
      </p:pic>
      <p:sp>
        <p:nvSpPr>
          <p:cNvPr id="17" name="Shape 14"/>
          <p:cNvSpPr/>
          <p:nvPr/>
        </p:nvSpPr>
        <p:spPr>
          <a:xfrm>
            <a:off x="3854354" y="2116038"/>
            <a:ext cx="12700" cy="1644650"/>
          </a:xfrm>
          <a:prstGeom prst="rect">
            <a:avLst/>
          </a:prstGeom>
          <a:solidFill>
            <a:srgbClr val="4A644E"/>
          </a:solidFill>
          <a:ln/>
        </p:spPr>
      </p:sp>
      <p:sp>
        <p:nvSpPr>
          <p:cNvPr id="18" name="Shape 15"/>
          <p:cNvSpPr/>
          <p:nvPr/>
        </p:nvSpPr>
        <p:spPr>
          <a:xfrm>
            <a:off x="772101" y="3754338"/>
            <a:ext cx="3088602" cy="12700"/>
          </a:xfrm>
          <a:prstGeom prst="rect">
            <a:avLst/>
          </a:prstGeom>
          <a:solidFill>
            <a:srgbClr val="4A644E"/>
          </a:solidFill>
          <a:ln/>
        </p:spPr>
      </p:sp>
      <p:sp>
        <p:nvSpPr>
          <p:cNvPr id="19" name="Shape 16"/>
          <p:cNvSpPr/>
          <p:nvPr/>
        </p:nvSpPr>
        <p:spPr>
          <a:xfrm>
            <a:off x="3854354" y="3760688"/>
            <a:ext cx="12700" cy="1644650"/>
          </a:xfrm>
          <a:prstGeom prst="rect">
            <a:avLst/>
          </a:prstGeom>
          <a:solidFill>
            <a:srgbClr val="4A644E"/>
          </a:solidFill>
          <a:ln/>
        </p:spPr>
      </p:sp>
      <p:sp>
        <p:nvSpPr>
          <p:cNvPr id="20" name="Shape 17"/>
          <p:cNvSpPr/>
          <p:nvPr/>
        </p:nvSpPr>
        <p:spPr>
          <a:xfrm>
            <a:off x="3860703" y="3754338"/>
            <a:ext cx="3088602" cy="12700"/>
          </a:xfrm>
          <a:prstGeom prst="rect">
            <a:avLst/>
          </a:prstGeom>
          <a:solidFill>
            <a:srgbClr val="4A644E"/>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7040783" cy="6858000"/>
          </a:xfrm>
          <a:custGeom>
            <a:avLst/>
            <a:gdLst/>
            <a:ahLst/>
            <a:cxnLst/>
            <a:rect l="l" t="t" r="r" b="b"/>
            <a:pathLst>
              <a:path w="7040783" h="6858000">
                <a:moveTo>
                  <a:pt x="243796" y="0"/>
                </a:moveTo>
                <a:lnTo>
                  <a:pt x="7040783" y="0"/>
                </a:lnTo>
                <a:lnTo>
                  <a:pt x="7040783" y="6858000"/>
                </a:lnTo>
                <a:lnTo>
                  <a:pt x="243796" y="6858000"/>
                </a:lnTo>
                <a:arcTo hR="243802" wR="243796" stAng="5400000" swAng="5400000"/>
                <a:lnTo>
                  <a:pt x="0" y="243802"/>
                </a:lnTo>
                <a:arcTo hR="243802" wR="243796" stAng="10800000" swAng="5400000"/>
                <a:close/>
              </a:path>
            </a:pathLst>
          </a:custGeom>
          <a:solidFill>
            <a:srgbClr val="FAFFFA"/>
          </a:solidFill>
          <a:ln/>
        </p:spPr>
      </p:sp>
      <p:sp>
        <p:nvSpPr>
          <p:cNvPr id="3" name="Text 1"/>
          <p:cNvSpPr/>
          <p:nvPr/>
        </p:nvSpPr>
        <p:spPr>
          <a:xfrm>
            <a:off x="609585" y="609600"/>
            <a:ext cx="6431198" cy="153293"/>
          </a:xfrm>
          <a:prstGeom prst="rect">
            <a:avLst/>
          </a:prstGeom>
          <a:noFill/>
          <a:ln/>
        </p:spPr>
        <p:txBody>
          <a:bodyPr wrap="none" lIns="0" tIns="0" rIns="0" bIns="0" rtlCol="0" anchor="t"/>
          <a:lstStyle/>
          <a:p>
            <a:pPr algn="l" indent="0" marL="0">
              <a:lnSpc>
                <a:spcPct val="96000"/>
              </a:lnSpc>
              <a:buNone/>
            </a:pPr>
            <a:r>
              <a:rPr lang="en-US" sz="1050" spc="47" kern="0" dirty="0">
                <a:solidFill>
                  <a:srgbClr val="000000"/>
                </a:solidFill>
                <a:latin typeface="Noto Sans Telugu SemiBold" pitchFamily="34" charset="0"/>
                <a:ea typeface="Noto Sans Telugu SemiBold" pitchFamily="34" charset="-122"/>
                <a:cs typeface="Noto Sans Telugu SemiBold" pitchFamily="34" charset="-120"/>
              </a:rPr>
              <a:t>PERSONAL SETUP</a:t>
            </a:r>
            <a:endParaRPr lang="en-US" sz="1050" dirty="0"/>
          </a:p>
        </p:txBody>
      </p:sp>
      <p:sp>
        <p:nvSpPr>
          <p:cNvPr id="4" name="Text 2"/>
          <p:cNvSpPr/>
          <p:nvPr/>
        </p:nvSpPr>
        <p:spPr>
          <a:xfrm>
            <a:off x="609585" y="848618"/>
            <a:ext cx="5821614" cy="1003697"/>
          </a:xfrm>
          <a:prstGeom prst="rect">
            <a:avLst/>
          </a:prstGeom>
          <a:noFill/>
          <a:ln/>
        </p:spPr>
        <p:txBody>
          <a:bodyPr wrap="square" lIns="0" tIns="0" rIns="0" bIns="0" rtlCol="0" anchor="t">
            <a:normAutofit/>
          </a:bodyPr>
          <a:lstStyle/>
          <a:p>
            <a:pPr algn="l" indent="0" marL="0">
              <a:lnSpc>
                <a:spcPct val="87000"/>
              </a:lnSpc>
              <a:buNone/>
            </a:pPr>
            <a:r>
              <a:rPr lang="en-US" sz="3800" spc="-46" kern="0" dirty="0">
                <a:solidFill>
                  <a:srgbClr val="000000"/>
                </a:solidFill>
                <a:latin typeface="Noto Sans Telugu ExtraBold" pitchFamily="34" charset="0"/>
                <a:ea typeface="Noto Sans Telugu ExtraBold" pitchFamily="34" charset="-122"/>
                <a:cs typeface="Noto Sans Telugu ExtraBold" pitchFamily="34" charset="-120"/>
              </a:rPr>
              <a:t>My Crops and Profile keep the app personal</a:t>
            </a:r>
            <a:endParaRPr lang="en-US" sz="3800" dirty="0"/>
          </a:p>
        </p:txBody>
      </p:sp>
      <p:sp>
        <p:nvSpPr>
          <p:cNvPr id="5" name="Text 3"/>
          <p:cNvSpPr/>
          <p:nvPr/>
        </p:nvSpPr>
        <p:spPr>
          <a:xfrm>
            <a:off x="609585" y="2065040"/>
            <a:ext cx="5821614"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Save the details that make guidance feel relevant: crop, sowing date, field size, and location.</a:t>
            </a:r>
            <a:endParaRPr lang="en-US" sz="1600" dirty="0"/>
          </a:p>
        </p:txBody>
      </p:sp>
      <p:sp>
        <p:nvSpPr>
          <p:cNvPr id="6" name="Text 4"/>
          <p:cNvSpPr/>
          <p:nvPr/>
        </p:nvSpPr>
        <p:spPr>
          <a:xfrm>
            <a:off x="609585" y="2800052"/>
            <a:ext cx="1711877"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My Crops</a:t>
            </a:r>
            <a:endParaRPr lang="en-US" sz="2400" dirty="0"/>
          </a:p>
        </p:txBody>
      </p:sp>
      <p:sp>
        <p:nvSpPr>
          <p:cNvPr id="7" name="Text 5"/>
          <p:cNvSpPr/>
          <p:nvPr/>
        </p:nvSpPr>
        <p:spPr>
          <a:xfrm>
            <a:off x="609585" y="3312021"/>
            <a:ext cx="1711877" cy="1089025"/>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See the next care action and receive reminders.</a:t>
            </a:r>
            <a:endParaRPr lang="en-US" sz="1600" dirty="0"/>
          </a:p>
        </p:txBody>
      </p:sp>
      <p:sp>
        <p:nvSpPr>
          <p:cNvPr id="8" name="Text 6"/>
          <p:cNvSpPr/>
          <p:nvPr/>
        </p:nvSpPr>
        <p:spPr>
          <a:xfrm>
            <a:off x="2778651" y="2800052"/>
            <a:ext cx="1483382"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Profile</a:t>
            </a:r>
            <a:endParaRPr lang="en-US" sz="2400" dirty="0"/>
          </a:p>
        </p:txBody>
      </p:sp>
      <p:sp>
        <p:nvSpPr>
          <p:cNvPr id="9" name="Text 7"/>
          <p:cNvSpPr/>
          <p:nvPr/>
        </p:nvSpPr>
        <p:spPr>
          <a:xfrm>
            <a:off x="2778651" y="3312021"/>
            <a:ext cx="1483382" cy="1905794"/>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Choose తెలుగు / English, notifications, location permission, help, and feedback.</a:t>
            </a:r>
            <a:endParaRPr lang="en-US" sz="1600" dirty="0"/>
          </a:p>
        </p:txBody>
      </p:sp>
      <p:sp>
        <p:nvSpPr>
          <p:cNvPr id="10" name="Text 8"/>
          <p:cNvSpPr/>
          <p:nvPr/>
        </p:nvSpPr>
        <p:spPr>
          <a:xfrm>
            <a:off x="4719222" y="2800052"/>
            <a:ext cx="1711877"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Feedback</a:t>
            </a:r>
            <a:endParaRPr lang="en-US" sz="2400" dirty="0"/>
          </a:p>
        </p:txBody>
      </p:sp>
      <p:sp>
        <p:nvSpPr>
          <p:cNvPr id="11" name="Text 9"/>
          <p:cNvSpPr/>
          <p:nvPr/>
        </p:nvSpPr>
        <p:spPr>
          <a:xfrm>
            <a:off x="4719222" y="3312021"/>
            <a:ext cx="1711877" cy="1089025"/>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Send a voice note or text when something needs improving.</a:t>
            </a:r>
            <a:endParaRPr lang="en-US" sz="1600" dirty="0"/>
          </a:p>
        </p:txBody>
      </p:sp>
      <p:sp>
        <p:nvSpPr>
          <p:cNvPr id="12" name="Text 10"/>
          <p:cNvSpPr/>
          <p:nvPr/>
        </p:nvSpPr>
        <p:spPr>
          <a:xfrm>
            <a:off x="609585" y="5408315"/>
            <a:ext cx="6431198" cy="167878"/>
          </a:xfrm>
          <a:prstGeom prst="rect">
            <a:avLst/>
          </a:prstGeom>
          <a:noFill/>
          <a:ln/>
        </p:spPr>
        <p:txBody>
          <a:bodyPr wrap="none" lIns="0" tIns="0" rIns="0" bIns="0" rtlCol="0" anchor="t"/>
          <a:lstStyle/>
          <a:p>
            <a:pPr algn="l"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Personal does not mean complicated: one place to update the basics.</a:t>
            </a:r>
            <a:endParaRPr lang="en-US" sz="1150" dirty="0"/>
          </a:p>
        </p:txBody>
      </p:sp>
      <p:sp>
        <p:nvSpPr>
          <p:cNvPr id="13" name="Shape 11"/>
          <p:cNvSpPr/>
          <p:nvPr/>
        </p:nvSpPr>
        <p:spPr>
          <a:xfrm>
            <a:off x="7497873" y="0"/>
            <a:ext cx="4693822" cy="6858000"/>
          </a:xfrm>
          <a:prstGeom prst="roundRect">
            <a:avLst>
              <a:gd name="adj" fmla="val 3896"/>
            </a:avLst>
          </a:prstGeom>
          <a:solidFill>
            <a:srgbClr val="FAFFFA"/>
          </a:solidFill>
          <a:ln/>
        </p:spPr>
      </p:sp>
      <p:pic>
        <p:nvPicPr>
          <p:cNvPr id="14" name="Image 0" descr="preencoded.png">    </p:cNvPr>
          <p:cNvPicPr>
            <a:picLocks noChangeAspect="1"/>
          </p:cNvPicPr>
          <p:nvPr/>
        </p:nvPicPr>
        <p:blipFill>
          <a:blip r:embed="rId1"/>
          <a:stretch>
            <a:fillRect/>
          </a:stretch>
        </p:blipFill>
        <p:spPr>
          <a:xfrm>
            <a:off x="7497873" y="0"/>
            <a:ext cx="4693822" cy="6858000"/>
          </a:xfrm>
          <a:prstGeom prst="rect">
            <a:avLst/>
          </a:prstGeom>
        </p:spPr>
      </p:pic>
      <p:sp>
        <p:nvSpPr>
          <p:cNvPr id="15" name="Shape 12"/>
          <p:cNvSpPr/>
          <p:nvPr/>
        </p:nvSpPr>
        <p:spPr>
          <a:xfrm>
            <a:off x="2543707" y="2800052"/>
            <a:ext cx="12700" cy="2417762"/>
          </a:xfrm>
          <a:prstGeom prst="rect">
            <a:avLst/>
          </a:prstGeom>
          <a:solidFill>
            <a:srgbClr val="4A644E"/>
          </a:solidFill>
          <a:ln/>
        </p:spPr>
      </p:sp>
      <p:sp>
        <p:nvSpPr>
          <p:cNvPr id="16" name="Shape 13"/>
          <p:cNvSpPr/>
          <p:nvPr/>
        </p:nvSpPr>
        <p:spPr>
          <a:xfrm>
            <a:off x="4484278" y="2800052"/>
            <a:ext cx="12700" cy="2417762"/>
          </a:xfrm>
          <a:prstGeom prst="rect">
            <a:avLst/>
          </a:prstGeom>
          <a:solidFill>
            <a:srgbClr val="4A644E"/>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302712" cy="6897191"/>
          </a:xfrm>
          <a:custGeom>
            <a:avLst/>
            <a:gdLst/>
            <a:ahLst/>
            <a:cxnLst/>
            <a:rect l="l" t="t" r="r" b="b"/>
            <a:pathLst>
              <a:path w="4302712" h="6897191">
                <a:moveTo>
                  <a:pt x="243796" y="0"/>
                </a:moveTo>
                <a:lnTo>
                  <a:pt x="4302712" y="0"/>
                </a:lnTo>
                <a:lnTo>
                  <a:pt x="4302712" y="6897191"/>
                </a:lnTo>
                <a:lnTo>
                  <a:pt x="243796" y="6897191"/>
                </a:lnTo>
                <a:arcTo hR="243802" wR="243796" stAng="5400000" swAng="5400000"/>
                <a:lnTo>
                  <a:pt x="0" y="243802"/>
                </a:lnTo>
                <a:arcTo hR="243802" wR="243796" stAng="10800000" swAng="5400000"/>
                <a:close/>
              </a:path>
            </a:pathLst>
          </a:custGeom>
          <a:solidFill>
            <a:srgbClr val="FAFFFA"/>
          </a:solidFill>
          <a:ln/>
        </p:spPr>
      </p:sp>
      <p:sp>
        <p:nvSpPr>
          <p:cNvPr id="3" name="Text 1"/>
          <p:cNvSpPr/>
          <p:nvPr/>
        </p:nvSpPr>
        <p:spPr>
          <a:xfrm>
            <a:off x="609585" y="609600"/>
            <a:ext cx="3464533" cy="2509242"/>
          </a:xfrm>
          <a:prstGeom prst="rect">
            <a:avLst/>
          </a:prstGeom>
          <a:noFill/>
          <a:ln/>
        </p:spPr>
        <p:txBody>
          <a:bodyPr wrap="square" lIns="0" tIns="0" rIns="0" bIns="0" rtlCol="0" anchor="t">
            <a:normAutofit/>
          </a:bodyPr>
          <a:lstStyle/>
          <a:p>
            <a:pPr algn="l" indent="0" marL="0">
              <a:lnSpc>
                <a:spcPct val="87000"/>
              </a:lnSpc>
              <a:buNone/>
            </a:pPr>
            <a:r>
              <a:rPr lang="en-US" sz="3800" spc="-46" kern="0" dirty="0">
                <a:solidFill>
                  <a:srgbClr val="000000"/>
                </a:solidFill>
                <a:latin typeface="Noto Sans Telugu ExtraBold" pitchFamily="34" charset="0"/>
                <a:ea typeface="Noto Sans Telugu ExtraBold" pitchFamily="34" charset="-122"/>
                <a:cs typeface="Noto Sans Telugu ExtraBold" pitchFamily="34" charset="-120"/>
              </a:rPr>
              <a:t>One clear navigation system connects every task</a:t>
            </a:r>
            <a:endParaRPr lang="en-US" sz="3800" dirty="0"/>
          </a:p>
        </p:txBody>
      </p:sp>
      <p:sp>
        <p:nvSpPr>
          <p:cNvPr id="4" name="Text 2"/>
          <p:cNvSpPr/>
          <p:nvPr/>
        </p:nvSpPr>
        <p:spPr>
          <a:xfrm>
            <a:off x="609585" y="3331567"/>
            <a:ext cx="3464533" cy="816769"/>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Each route starts simply, keeps the next action visible, and returns to the same home.</a:t>
            </a:r>
            <a:endParaRPr lang="en-US" sz="1600" dirty="0"/>
          </a:p>
        </p:txBody>
      </p:sp>
      <p:pic>
        <p:nvPicPr>
          <p:cNvPr id="5" name="Image 0" descr="preencoded.png">    </p:cNvPr>
          <p:cNvPicPr>
            <a:picLocks noChangeAspect="1"/>
          </p:cNvPicPr>
          <p:nvPr/>
        </p:nvPicPr>
        <p:blipFill>
          <a:blip r:embed="rId1"/>
          <a:stretch>
            <a:fillRect/>
          </a:stretch>
        </p:blipFill>
        <p:spPr>
          <a:xfrm>
            <a:off x="609585" y="4338836"/>
            <a:ext cx="3464533" cy="1948755"/>
          </a:xfrm>
          <a:prstGeom prst="rect">
            <a:avLst/>
          </a:prstGeom>
        </p:spPr>
      </p:pic>
      <p:sp>
        <p:nvSpPr>
          <p:cNvPr id="6" name="Shape 3"/>
          <p:cNvSpPr/>
          <p:nvPr/>
        </p:nvSpPr>
        <p:spPr>
          <a:xfrm>
            <a:off x="4759801" y="0"/>
            <a:ext cx="7431894" cy="6897191"/>
          </a:xfrm>
          <a:custGeom>
            <a:avLst/>
            <a:gdLst/>
            <a:ahLst/>
            <a:cxnLst/>
            <a:rect l="l" t="t" r="r" b="b"/>
            <a:pathLst>
              <a:path w="7431894" h="6897191">
                <a:moveTo>
                  <a:pt x="0" y="0"/>
                </a:moveTo>
                <a:lnTo>
                  <a:pt x="7188098" y="0"/>
                </a:lnTo>
                <a:arcTo hR="243802" wR="243796" stAng="16200000" swAng="5400000"/>
                <a:lnTo>
                  <a:pt x="7431894" y="6653390"/>
                </a:lnTo>
                <a:arcTo hR="243802" wR="243796" stAng="0" swAng="5400000"/>
                <a:lnTo>
                  <a:pt x="0" y="6897191"/>
                </a:lnTo>
                <a:lnTo>
                  <a:pt x="0" y="0"/>
                </a:lnTo>
                <a:close/>
              </a:path>
            </a:pathLst>
          </a:custGeom>
          <a:solidFill>
            <a:srgbClr val="FAFFFA"/>
          </a:solidFill>
          <a:ln/>
        </p:spPr>
      </p:sp>
      <p:sp>
        <p:nvSpPr>
          <p:cNvPr id="7" name="Shape 4"/>
          <p:cNvSpPr/>
          <p:nvPr/>
        </p:nvSpPr>
        <p:spPr>
          <a:xfrm>
            <a:off x="4759801" y="609600"/>
            <a:ext cx="6822309" cy="6350"/>
          </a:xfrm>
          <a:prstGeom prst="rect">
            <a:avLst/>
          </a:prstGeom>
          <a:solidFill>
            <a:srgbClr val="D1E7D2"/>
          </a:solidFill>
          <a:ln/>
        </p:spPr>
      </p:sp>
      <p:sp>
        <p:nvSpPr>
          <p:cNvPr id="8" name="Shape 5"/>
          <p:cNvSpPr/>
          <p:nvPr/>
        </p:nvSpPr>
        <p:spPr>
          <a:xfrm>
            <a:off x="4759801" y="899120"/>
            <a:ext cx="355591" cy="355600"/>
          </a:xfrm>
          <a:prstGeom prst="ellipse">
            <a:avLst/>
          </a:prstGeom>
          <a:solidFill>
            <a:srgbClr val="438951"/>
          </a:solidFill>
          <a:ln/>
        </p:spPr>
      </p:sp>
      <p:sp>
        <p:nvSpPr>
          <p:cNvPr id="9" name="Text 6"/>
          <p:cNvSpPr/>
          <p:nvPr/>
        </p:nvSpPr>
        <p:spPr>
          <a:xfrm>
            <a:off x="4879456" y="975320"/>
            <a:ext cx="725866" cy="203200"/>
          </a:xfrm>
          <a:prstGeom prst="rect">
            <a:avLst/>
          </a:prstGeom>
          <a:noFill/>
          <a:ln/>
        </p:spPr>
        <p:txBody>
          <a:bodyPr wrap="none" lIns="0" tIns="0" rIns="0" bIns="0" rtlCol="0" anchor="t"/>
          <a:lstStyle/>
          <a:p>
            <a:pPr algn="l" indent="0" marL="0">
              <a:lnSpc>
                <a:spcPct val="83000"/>
              </a:lnSpc>
              <a:buNone/>
            </a:pPr>
            <a:r>
              <a:rPr lang="en-US" sz="1600" dirty="0">
                <a:solidFill>
                  <a:srgbClr val="FFFFFF"/>
                </a:solidFill>
                <a:latin typeface="Noto Sans Telugu SemiBold" pitchFamily="34" charset="0"/>
                <a:ea typeface="Noto Sans Telugu SemiBold" pitchFamily="34" charset="-122"/>
                <a:cs typeface="Noto Sans Telugu SemiBold" pitchFamily="34" charset="-120"/>
              </a:rPr>
              <a:t>1</a:t>
            </a:r>
            <a:endParaRPr lang="en-US" sz="1600" dirty="0"/>
          </a:p>
        </p:txBody>
      </p:sp>
      <p:sp>
        <p:nvSpPr>
          <p:cNvPr id="10" name="Text 7"/>
          <p:cNvSpPr/>
          <p:nvPr/>
        </p:nvSpPr>
        <p:spPr>
          <a:xfrm>
            <a:off x="5293188" y="880070"/>
            <a:ext cx="6288922"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Start at Home</a:t>
            </a:r>
            <a:endParaRPr lang="en-US" sz="2400" dirty="0"/>
          </a:p>
        </p:txBody>
      </p:sp>
      <p:sp>
        <p:nvSpPr>
          <p:cNvPr id="11" name="Text 8"/>
          <p:cNvSpPr/>
          <p:nvPr/>
        </p:nvSpPr>
        <p:spPr>
          <a:xfrm>
            <a:off x="5293188" y="1392039"/>
            <a:ext cx="6898507"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Welcome → Home → Diagnose → Camera or Gallery.</a:t>
            </a:r>
            <a:endParaRPr lang="en-US" sz="1600" dirty="0"/>
          </a:p>
        </p:txBody>
      </p:sp>
      <p:sp>
        <p:nvSpPr>
          <p:cNvPr id="12" name="Shape 9"/>
          <p:cNvSpPr/>
          <p:nvPr/>
        </p:nvSpPr>
        <p:spPr>
          <a:xfrm>
            <a:off x="4759801" y="1988145"/>
            <a:ext cx="355591" cy="355600"/>
          </a:xfrm>
          <a:prstGeom prst="ellipse">
            <a:avLst/>
          </a:prstGeom>
          <a:solidFill>
            <a:srgbClr val="438951"/>
          </a:solidFill>
          <a:ln/>
        </p:spPr>
      </p:sp>
      <p:sp>
        <p:nvSpPr>
          <p:cNvPr id="13" name="Text 10"/>
          <p:cNvSpPr/>
          <p:nvPr/>
        </p:nvSpPr>
        <p:spPr>
          <a:xfrm>
            <a:off x="4879456" y="2064345"/>
            <a:ext cx="725866" cy="203200"/>
          </a:xfrm>
          <a:prstGeom prst="rect">
            <a:avLst/>
          </a:prstGeom>
          <a:noFill/>
          <a:ln/>
        </p:spPr>
        <p:txBody>
          <a:bodyPr wrap="none" lIns="0" tIns="0" rIns="0" bIns="0" rtlCol="0" anchor="t"/>
          <a:lstStyle/>
          <a:p>
            <a:pPr algn="l" indent="0" marL="0">
              <a:lnSpc>
                <a:spcPct val="83000"/>
              </a:lnSpc>
              <a:buNone/>
            </a:pPr>
            <a:r>
              <a:rPr lang="en-US" sz="1600" dirty="0">
                <a:solidFill>
                  <a:srgbClr val="FFFFFF"/>
                </a:solidFill>
                <a:latin typeface="Noto Sans Telugu SemiBold" pitchFamily="34" charset="0"/>
                <a:ea typeface="Noto Sans Telugu SemiBold" pitchFamily="34" charset="-122"/>
                <a:cs typeface="Noto Sans Telugu SemiBold" pitchFamily="34" charset="-120"/>
              </a:rPr>
              <a:t>2</a:t>
            </a:r>
            <a:endParaRPr lang="en-US" sz="1600" dirty="0"/>
          </a:p>
        </p:txBody>
      </p:sp>
      <p:sp>
        <p:nvSpPr>
          <p:cNvPr id="14" name="Text 11"/>
          <p:cNvSpPr/>
          <p:nvPr/>
        </p:nvSpPr>
        <p:spPr>
          <a:xfrm>
            <a:off x="5293188" y="1969095"/>
            <a:ext cx="6288922"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Follow the answer</a:t>
            </a:r>
            <a:endParaRPr lang="en-US" sz="2400" dirty="0"/>
          </a:p>
        </p:txBody>
      </p:sp>
      <p:sp>
        <p:nvSpPr>
          <p:cNvPr id="15" name="Text 12"/>
          <p:cNvSpPr/>
          <p:nvPr/>
        </p:nvSpPr>
        <p:spPr>
          <a:xfrm>
            <a:off x="5293188" y="2481064"/>
            <a:ext cx="6898507"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AI Scan → Disease Result → Treatment.</a:t>
            </a:r>
            <a:endParaRPr lang="en-US" sz="1600" dirty="0"/>
          </a:p>
        </p:txBody>
      </p:sp>
      <p:sp>
        <p:nvSpPr>
          <p:cNvPr id="16" name="Shape 13"/>
          <p:cNvSpPr/>
          <p:nvPr/>
        </p:nvSpPr>
        <p:spPr>
          <a:xfrm>
            <a:off x="4759801" y="3077170"/>
            <a:ext cx="355591" cy="355600"/>
          </a:xfrm>
          <a:prstGeom prst="ellipse">
            <a:avLst/>
          </a:prstGeom>
          <a:solidFill>
            <a:srgbClr val="438951"/>
          </a:solidFill>
          <a:ln/>
        </p:spPr>
      </p:sp>
      <p:sp>
        <p:nvSpPr>
          <p:cNvPr id="17" name="Text 14"/>
          <p:cNvSpPr/>
          <p:nvPr/>
        </p:nvSpPr>
        <p:spPr>
          <a:xfrm>
            <a:off x="4879456" y="3153370"/>
            <a:ext cx="725866" cy="203200"/>
          </a:xfrm>
          <a:prstGeom prst="rect">
            <a:avLst/>
          </a:prstGeom>
          <a:noFill/>
          <a:ln/>
        </p:spPr>
        <p:txBody>
          <a:bodyPr wrap="none" lIns="0" tIns="0" rIns="0" bIns="0" rtlCol="0" anchor="t"/>
          <a:lstStyle/>
          <a:p>
            <a:pPr algn="l" indent="0" marL="0">
              <a:lnSpc>
                <a:spcPct val="83000"/>
              </a:lnSpc>
              <a:buNone/>
            </a:pPr>
            <a:r>
              <a:rPr lang="en-US" sz="1600" dirty="0">
                <a:solidFill>
                  <a:srgbClr val="FFFFFF"/>
                </a:solidFill>
                <a:latin typeface="Noto Sans Telugu SemiBold" pitchFamily="34" charset="0"/>
                <a:ea typeface="Noto Sans Telugu SemiBold" pitchFamily="34" charset="-122"/>
                <a:cs typeface="Noto Sans Telugu SemiBold" pitchFamily="34" charset="-120"/>
              </a:rPr>
              <a:t>3</a:t>
            </a:r>
            <a:endParaRPr lang="en-US" sz="1600" dirty="0"/>
          </a:p>
        </p:txBody>
      </p:sp>
      <p:sp>
        <p:nvSpPr>
          <p:cNvPr id="18" name="Text 15"/>
          <p:cNvSpPr/>
          <p:nvPr/>
        </p:nvSpPr>
        <p:spPr>
          <a:xfrm>
            <a:off x="5293188" y="3058120"/>
            <a:ext cx="6288922"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Explore support</a:t>
            </a:r>
            <a:endParaRPr lang="en-US" sz="2400" dirty="0"/>
          </a:p>
        </p:txBody>
      </p:sp>
      <p:sp>
        <p:nvSpPr>
          <p:cNvPr id="19" name="Text 16"/>
          <p:cNvSpPr/>
          <p:nvPr/>
        </p:nvSpPr>
        <p:spPr>
          <a:xfrm>
            <a:off x="5293188" y="3570089"/>
            <a:ext cx="6898507" cy="272256"/>
          </a:xfrm>
          <a:prstGeom prst="rect">
            <a:avLst/>
          </a:prstGeom>
          <a:noFill/>
          <a:ln/>
        </p:spPr>
        <p:txBody>
          <a:bodyPr wrap="none" lIns="0" tIns="0" rIns="0" bIns="0" rtlCol="0" anchor="t"/>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Home → Weather / Tips / My Crops / Profile.</a:t>
            </a:r>
            <a:endParaRPr lang="en-US" sz="1600" dirty="0"/>
          </a:p>
        </p:txBody>
      </p:sp>
      <p:sp>
        <p:nvSpPr>
          <p:cNvPr id="20" name="Shape 17"/>
          <p:cNvSpPr/>
          <p:nvPr/>
        </p:nvSpPr>
        <p:spPr>
          <a:xfrm>
            <a:off x="4759801" y="4166195"/>
            <a:ext cx="355591" cy="355600"/>
          </a:xfrm>
          <a:prstGeom prst="ellipse">
            <a:avLst/>
          </a:prstGeom>
          <a:solidFill>
            <a:srgbClr val="438951"/>
          </a:solidFill>
          <a:ln/>
        </p:spPr>
      </p:sp>
      <p:sp>
        <p:nvSpPr>
          <p:cNvPr id="21" name="Text 18"/>
          <p:cNvSpPr/>
          <p:nvPr/>
        </p:nvSpPr>
        <p:spPr>
          <a:xfrm>
            <a:off x="4879456" y="4242395"/>
            <a:ext cx="725866" cy="203200"/>
          </a:xfrm>
          <a:prstGeom prst="rect">
            <a:avLst/>
          </a:prstGeom>
          <a:noFill/>
          <a:ln/>
        </p:spPr>
        <p:txBody>
          <a:bodyPr wrap="none" lIns="0" tIns="0" rIns="0" bIns="0" rtlCol="0" anchor="t"/>
          <a:lstStyle/>
          <a:p>
            <a:pPr algn="l" indent="0" marL="0">
              <a:lnSpc>
                <a:spcPct val="83000"/>
              </a:lnSpc>
              <a:buNone/>
            </a:pPr>
            <a:r>
              <a:rPr lang="en-US" sz="1600" dirty="0">
                <a:solidFill>
                  <a:srgbClr val="FFFFFF"/>
                </a:solidFill>
                <a:latin typeface="Noto Sans Telugu SemiBold" pitchFamily="34" charset="0"/>
                <a:ea typeface="Noto Sans Telugu SemiBold" pitchFamily="34" charset="-122"/>
                <a:cs typeface="Noto Sans Telugu SemiBold" pitchFamily="34" charset="-120"/>
              </a:rPr>
              <a:t>4</a:t>
            </a:r>
            <a:endParaRPr lang="en-US" sz="1600" dirty="0"/>
          </a:p>
        </p:txBody>
      </p:sp>
      <p:sp>
        <p:nvSpPr>
          <p:cNvPr id="22" name="Text 19"/>
          <p:cNvSpPr/>
          <p:nvPr/>
        </p:nvSpPr>
        <p:spPr>
          <a:xfrm>
            <a:off x="5293188" y="4147145"/>
            <a:ext cx="6288922" cy="359569"/>
          </a:xfrm>
          <a:prstGeom prst="rect">
            <a:avLst/>
          </a:prstGeom>
          <a:noFill/>
          <a:ln/>
        </p:spPr>
        <p:txBody>
          <a:bodyPr wrap="none" lIns="0" tIns="0" rIns="0" bIns="0" rtlCol="0" anchor="t"/>
          <a:lstStyle/>
          <a:p>
            <a:pPr algn="l" indent="0" marL="0">
              <a:lnSpc>
                <a:spcPct val="98000"/>
              </a:lnSpc>
              <a:buNone/>
            </a:pPr>
            <a:r>
              <a:rPr lang="en-US" sz="2400" dirty="0">
                <a:solidFill>
                  <a:srgbClr val="000000"/>
                </a:solidFill>
                <a:latin typeface="Noto Sans Telugu SemiBold" pitchFamily="34" charset="0"/>
                <a:ea typeface="Noto Sans Telugu SemiBold" pitchFamily="34" charset="-122"/>
                <a:cs typeface="Noto Sans Telugu SemiBold" pitchFamily="34" charset="-120"/>
              </a:rPr>
              <a:t>Return anytime</a:t>
            </a:r>
            <a:endParaRPr lang="en-US" sz="2400" dirty="0"/>
          </a:p>
        </p:txBody>
      </p:sp>
      <p:sp>
        <p:nvSpPr>
          <p:cNvPr id="23" name="Text 20"/>
          <p:cNvSpPr/>
          <p:nvPr/>
        </p:nvSpPr>
        <p:spPr>
          <a:xfrm>
            <a:off x="5293188" y="4659114"/>
            <a:ext cx="6288922" cy="544513"/>
          </a:xfrm>
          <a:prstGeom prst="rect">
            <a:avLst/>
          </a:prstGeom>
          <a:noFill/>
          <a:ln/>
        </p:spPr>
        <p:txBody>
          <a:bodyPr wrap="square" lIns="0" tIns="0" rIns="0" bIns="0" rtlCol="0" anchor="t">
            <a:normAutofit/>
          </a:bodyPr>
          <a:lstStyle/>
          <a:p>
            <a:pPr algn="l"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Persistent bottom navigation: హోమ్, పరీక్ష, నా పంటలు, సూచనలు, ప్రొఫైల్.</a:t>
            </a:r>
            <a:endParaRPr lang="en-US" sz="1600" dirty="0"/>
          </a:p>
        </p:txBody>
      </p:sp>
      <p:sp>
        <p:nvSpPr>
          <p:cNvPr id="24" name="Shape 21"/>
          <p:cNvSpPr/>
          <p:nvPr/>
        </p:nvSpPr>
        <p:spPr>
          <a:xfrm>
            <a:off x="4759801" y="1810345"/>
            <a:ext cx="6822309" cy="12700"/>
          </a:xfrm>
          <a:prstGeom prst="rect">
            <a:avLst/>
          </a:prstGeom>
          <a:solidFill>
            <a:srgbClr val="4A644E"/>
          </a:solidFill>
          <a:ln/>
        </p:spPr>
      </p:sp>
      <p:sp>
        <p:nvSpPr>
          <p:cNvPr id="25" name="Shape 22"/>
          <p:cNvSpPr/>
          <p:nvPr/>
        </p:nvSpPr>
        <p:spPr>
          <a:xfrm>
            <a:off x="4759801" y="2899370"/>
            <a:ext cx="6822309" cy="12700"/>
          </a:xfrm>
          <a:prstGeom prst="rect">
            <a:avLst/>
          </a:prstGeom>
          <a:solidFill>
            <a:srgbClr val="4A644E"/>
          </a:solidFill>
          <a:ln/>
        </p:spPr>
      </p:sp>
      <p:sp>
        <p:nvSpPr>
          <p:cNvPr id="26" name="Shape 23"/>
          <p:cNvSpPr/>
          <p:nvPr/>
        </p:nvSpPr>
        <p:spPr>
          <a:xfrm>
            <a:off x="4759801" y="3988395"/>
            <a:ext cx="6822309" cy="12700"/>
          </a:xfrm>
          <a:prstGeom prst="rect">
            <a:avLst/>
          </a:prstGeom>
          <a:solidFill>
            <a:srgbClr val="4A644E"/>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09585" y="1631156"/>
            <a:ext cx="2410757" cy="308670"/>
          </a:xfrm>
          <a:prstGeom prst="roundRect">
            <a:avLst>
              <a:gd name="adj" fmla="val 47397"/>
            </a:avLst>
          </a:prstGeom>
          <a:noFill/>
          <a:ln w="6350">
            <a:solidFill>
              <a:srgbClr val="000000"/>
            </a:solidFill>
            <a:prstDash val="solid"/>
          </a:ln>
        </p:spPr>
      </p:sp>
      <p:sp>
        <p:nvSpPr>
          <p:cNvPr id="3" name="Text 1"/>
          <p:cNvSpPr/>
          <p:nvPr/>
        </p:nvSpPr>
        <p:spPr>
          <a:xfrm>
            <a:off x="731422" y="1692077"/>
            <a:ext cx="2776666" cy="186829"/>
          </a:xfrm>
          <a:prstGeom prst="rect">
            <a:avLst/>
          </a:prstGeom>
          <a:noFill/>
          <a:ln/>
        </p:spPr>
        <p:txBody>
          <a:bodyPr wrap="none" lIns="0" tIns="0" rIns="0" bIns="0" rtlCol="0" anchor="t"/>
          <a:lstStyle/>
          <a:p>
            <a:pPr algn="l" indent="0" marL="0">
              <a:lnSpc>
                <a:spcPct val="96000"/>
              </a:lnSpc>
              <a:buNone/>
            </a:pPr>
            <a:r>
              <a:rPr lang="en-US" sz="1300" dirty="0">
                <a:solidFill>
                  <a:srgbClr val="000000"/>
                </a:solidFill>
                <a:latin typeface="Noto Sans Telugu SemiBold" pitchFamily="34" charset="0"/>
                <a:ea typeface="Noto Sans Telugu SemiBold" pitchFamily="34" charset="-122"/>
                <a:cs typeface="Noto Sans Telugu SemiBold" pitchFamily="34" charset="-120"/>
              </a:rPr>
              <a:t>THE PRODUCT IN ONE LINE</a:t>
            </a:r>
            <a:endParaRPr lang="en-US" sz="1300" dirty="0"/>
          </a:p>
        </p:txBody>
      </p:sp>
      <p:sp>
        <p:nvSpPr>
          <p:cNvPr id="4" name="Text 2"/>
          <p:cNvSpPr/>
          <p:nvPr/>
        </p:nvSpPr>
        <p:spPr>
          <a:xfrm>
            <a:off x="1013395" y="2025551"/>
            <a:ext cx="10164806" cy="501848"/>
          </a:xfrm>
          <a:prstGeom prst="rect">
            <a:avLst/>
          </a:prstGeom>
          <a:noFill/>
          <a:ln/>
        </p:spPr>
        <p:txBody>
          <a:bodyPr wrap="none" lIns="0" tIns="0" rIns="0" bIns="0" rtlCol="0" anchor="t"/>
          <a:lstStyle/>
          <a:p>
            <a:pPr algn="ctr" indent="0" marL="0">
              <a:lnSpc>
                <a:spcPct val="87000"/>
              </a:lnSpc>
              <a:buNone/>
            </a:pPr>
            <a:r>
              <a:rPr lang="en-US" sz="3800" spc="-46" kern="0" dirty="0">
                <a:solidFill>
                  <a:srgbClr val="000000"/>
                </a:solidFill>
                <a:latin typeface="Noto Sans Telugu ExtraBold" pitchFamily="34" charset="0"/>
                <a:ea typeface="Noto Sans Telugu ExtraBold" pitchFamily="34" charset="-122"/>
                <a:cs typeface="Noto Sans Telugu ExtraBold" pitchFamily="34" charset="-120"/>
              </a:rPr>
              <a:t>Mana Pantalu makes the next action clear</a:t>
            </a:r>
            <a:endParaRPr lang="en-US" sz="3800" dirty="0"/>
          </a:p>
        </p:txBody>
      </p:sp>
      <p:sp>
        <p:nvSpPr>
          <p:cNvPr id="5" name="Text 3"/>
          <p:cNvSpPr/>
          <p:nvPr/>
        </p:nvSpPr>
        <p:spPr>
          <a:xfrm>
            <a:off x="609585" y="2740124"/>
            <a:ext cx="10972526" cy="544513"/>
          </a:xfrm>
          <a:prstGeom prst="rect">
            <a:avLst/>
          </a:prstGeom>
          <a:noFill/>
          <a:ln/>
        </p:spPr>
        <p:txBody>
          <a:bodyPr wrap="square" lIns="0" tIns="0" rIns="0" bIns="0" rtlCol="0" anchor="t">
            <a:normAutofit/>
          </a:bodyPr>
          <a:lstStyle/>
          <a:p>
            <a:pPr algn="ctr"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A Telugu-first farming assistant with photo diagnosis, voice support, weather alerts, crop reminders, and practical care guidance.</a:t>
            </a:r>
            <a:endParaRPr lang="en-US" sz="1600" dirty="0"/>
          </a:p>
        </p:txBody>
      </p:sp>
      <p:sp>
        <p:nvSpPr>
          <p:cNvPr id="6" name="Shape 4"/>
          <p:cNvSpPr/>
          <p:nvPr/>
        </p:nvSpPr>
        <p:spPr>
          <a:xfrm>
            <a:off x="609585" y="3475137"/>
            <a:ext cx="10972526" cy="1072753"/>
          </a:xfrm>
          <a:prstGeom prst="roundRect">
            <a:avLst>
              <a:gd name="adj" fmla="val 17047"/>
            </a:avLst>
          </a:prstGeom>
          <a:solidFill>
            <a:srgbClr val="DFEEE2"/>
          </a:solidFill>
          <a:ln/>
        </p:spPr>
      </p:sp>
      <p:sp>
        <p:nvSpPr>
          <p:cNvPr id="7" name="Text 5"/>
          <p:cNvSpPr/>
          <p:nvPr/>
        </p:nvSpPr>
        <p:spPr>
          <a:xfrm>
            <a:off x="975296" y="3739257"/>
            <a:ext cx="3142775" cy="544513"/>
          </a:xfrm>
          <a:prstGeom prst="rect">
            <a:avLst/>
          </a:prstGeom>
          <a:noFill/>
          <a:ln/>
        </p:spPr>
        <p:txBody>
          <a:bodyPr wrap="square" lIns="0" tIns="0" rIns="0" bIns="0" rtlCol="0" anchor="t">
            <a:normAutofit/>
          </a:bodyPr>
          <a:lstStyle/>
          <a:p>
            <a:pPr algn="ctr" indent="0" marL="0">
              <a:lnSpc>
                <a:spcPct val="112000"/>
              </a:lnSpc>
              <a:buNone/>
            </a:pPr>
            <a:r>
              <a:rPr lang="en-US" sz="1600" b="1" dirty="0">
                <a:solidFill>
                  <a:srgbClr val="000000"/>
                </a:solidFill>
                <a:latin typeface="Noto Sans Telugu Bold" pitchFamily="34" charset="0"/>
                <a:ea typeface="Noto Sans Telugu Bold" pitchFamily="34" charset="-122"/>
                <a:cs typeface="Noto Sans Telugu Bold" pitchFamily="34" charset="-120"/>
              </a:rPr>
              <a:t>Simple enough</a:t>
            </a:r>
            <a:endParaRPr lang="en-US" sz="1600" dirty="0"/>
          </a:p>
          <a:p>
            <a:pPr algn="ctr"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for a first-time smartphone user.</a:t>
            </a:r>
            <a:endParaRPr lang="en-US" sz="1600" dirty="0"/>
          </a:p>
        </p:txBody>
      </p:sp>
      <p:sp>
        <p:nvSpPr>
          <p:cNvPr id="8" name="Text 6"/>
          <p:cNvSpPr/>
          <p:nvPr/>
        </p:nvSpPr>
        <p:spPr>
          <a:xfrm>
            <a:off x="4524460" y="3739257"/>
            <a:ext cx="3142775" cy="544513"/>
          </a:xfrm>
          <a:prstGeom prst="rect">
            <a:avLst/>
          </a:prstGeom>
          <a:noFill/>
          <a:ln/>
        </p:spPr>
        <p:txBody>
          <a:bodyPr wrap="square" lIns="0" tIns="0" rIns="0" bIns="0" rtlCol="0" anchor="t">
            <a:normAutofit/>
          </a:bodyPr>
          <a:lstStyle/>
          <a:p>
            <a:pPr algn="ctr" indent="0" marL="0">
              <a:lnSpc>
                <a:spcPct val="112000"/>
              </a:lnSpc>
              <a:buNone/>
            </a:pPr>
            <a:r>
              <a:rPr lang="en-US" sz="1600" b="1" dirty="0">
                <a:solidFill>
                  <a:srgbClr val="000000"/>
                </a:solidFill>
                <a:latin typeface="Noto Sans Telugu Bold" pitchFamily="34" charset="0"/>
                <a:ea typeface="Noto Sans Telugu Bold" pitchFamily="34" charset="-122"/>
                <a:cs typeface="Noto Sans Telugu Bold" pitchFamily="34" charset="-120"/>
              </a:rPr>
              <a:t>Useful enough</a:t>
            </a:r>
            <a:endParaRPr lang="en-US" sz="1600" dirty="0"/>
          </a:p>
          <a:p>
            <a:pPr algn="ctr"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to return to every day.</a:t>
            </a:r>
            <a:endParaRPr lang="en-US" sz="1600" dirty="0"/>
          </a:p>
        </p:txBody>
      </p:sp>
      <p:sp>
        <p:nvSpPr>
          <p:cNvPr id="9" name="Text 7"/>
          <p:cNvSpPr/>
          <p:nvPr/>
        </p:nvSpPr>
        <p:spPr>
          <a:xfrm>
            <a:off x="8073625" y="3739257"/>
            <a:ext cx="3142775" cy="544513"/>
          </a:xfrm>
          <a:prstGeom prst="rect">
            <a:avLst/>
          </a:prstGeom>
          <a:noFill/>
          <a:ln/>
        </p:spPr>
        <p:txBody>
          <a:bodyPr wrap="square" lIns="0" tIns="0" rIns="0" bIns="0" rtlCol="0" anchor="t">
            <a:normAutofit/>
          </a:bodyPr>
          <a:lstStyle/>
          <a:p>
            <a:pPr algn="ctr" indent="0" marL="0">
              <a:lnSpc>
                <a:spcPct val="112000"/>
              </a:lnSpc>
              <a:buNone/>
            </a:pPr>
            <a:r>
              <a:rPr lang="en-US" sz="1600" b="1" dirty="0">
                <a:solidFill>
                  <a:srgbClr val="000000"/>
                </a:solidFill>
                <a:latin typeface="Noto Sans Telugu Bold" pitchFamily="34" charset="0"/>
                <a:ea typeface="Noto Sans Telugu Bold" pitchFamily="34" charset="-122"/>
                <a:cs typeface="Noto Sans Telugu Bold" pitchFamily="34" charset="-120"/>
              </a:rPr>
              <a:t>Ready for action</a:t>
            </a:r>
            <a:endParaRPr lang="en-US" sz="1600" dirty="0"/>
          </a:p>
          <a:p>
            <a:pPr algn="ctr" indent="0" marL="0">
              <a:lnSpc>
                <a:spcPct val="112000"/>
              </a:lnSpc>
              <a:buNone/>
            </a:pPr>
            <a:r>
              <a:rPr lang="en-US" sz="1600" dirty="0">
                <a:solidFill>
                  <a:srgbClr val="000000"/>
                </a:solidFill>
                <a:latin typeface="Noto Sans Telugu" pitchFamily="34" charset="0"/>
                <a:ea typeface="Noto Sans Telugu" pitchFamily="34" charset="-122"/>
                <a:cs typeface="Noto Sans Telugu" pitchFamily="34" charset="-120"/>
              </a:rPr>
              <a:t>with voice or text.</a:t>
            </a:r>
            <a:endParaRPr lang="en-US" sz="1600" dirty="0"/>
          </a:p>
        </p:txBody>
      </p:sp>
      <p:sp>
        <p:nvSpPr>
          <p:cNvPr id="10" name="Shape 8"/>
          <p:cNvSpPr/>
          <p:nvPr/>
        </p:nvSpPr>
        <p:spPr>
          <a:xfrm>
            <a:off x="4724282" y="4787602"/>
            <a:ext cx="2743131" cy="31651"/>
          </a:xfrm>
          <a:prstGeom prst="roundRect">
            <a:avLst>
              <a:gd name="adj" fmla="val 49998"/>
            </a:avLst>
          </a:prstGeom>
          <a:solidFill>
            <a:srgbClr val="4A644E"/>
          </a:solidFill>
          <a:ln/>
        </p:spPr>
      </p:sp>
      <p:sp>
        <p:nvSpPr>
          <p:cNvPr id="11" name="Text 9"/>
          <p:cNvSpPr/>
          <p:nvPr/>
        </p:nvSpPr>
        <p:spPr>
          <a:xfrm>
            <a:off x="3986212" y="5059065"/>
            <a:ext cx="4219271" cy="167878"/>
          </a:xfrm>
          <a:prstGeom prst="rect">
            <a:avLst/>
          </a:prstGeom>
          <a:noFill/>
          <a:ln/>
        </p:spPr>
        <p:txBody>
          <a:bodyPr wrap="none" lIns="0" tIns="0" rIns="0" bIns="0" rtlCol="0" anchor="t"/>
          <a:lstStyle/>
          <a:p>
            <a:pPr algn="ctr" indent="0" marL="0">
              <a:lnSpc>
                <a:spcPct val="96000"/>
              </a:lnSpc>
              <a:buNone/>
            </a:pPr>
            <a:r>
              <a:rPr lang="en-US" sz="1150" spc="17" kern="0" dirty="0">
                <a:solidFill>
                  <a:srgbClr val="000000"/>
                </a:solidFill>
                <a:latin typeface="Noto Sans Telugu SemiBold" pitchFamily="34" charset="0"/>
                <a:ea typeface="Noto Sans Telugu SemiBold" pitchFamily="34" charset="-122"/>
                <a:cs typeface="Noto Sans Telugu SemiBold" pitchFamily="34" charset="-120"/>
              </a:rPr>
              <a:t>One calm interface for clearer farming decisions.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2026-09-04T11:49:03Z</dcterms:created>
  <dcterms:modified xsi:type="dcterms:W3CDTF">2026-09-04T11:49:03Z</dcterms:modified>
</cp:coreProperties>
</file>